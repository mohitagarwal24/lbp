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5" d="100"/>
          <a:sy n="55" d="100"/>
        </p:scale>
        <p:origin x="1004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COMPARATIVE STUDY OF STOCHASTIC MODELS</a:t>
            </a:r>
            <a:br/>
            <a:r>
              <a:t>FOR OPTION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2F"/>
                </a:solidFill>
                <a:latin typeface="Calibri"/>
              </a:defRPr>
            </a:pPr>
            <a:r>
              <a:rPr dirty="0"/>
              <a:t>Black–Scholes vs Merton Jump–Diffusion on NIFTY 50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5720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Mid-Term Evaluation | Academic Year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supervision of Prof. Chaman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1. Motivation: why option pricing needs better models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2. Data &amp; Model Calibration (MLE on NIFTY returns)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3. Black–Scholes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GBM SDE → MLE → closed-form call/put → MC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4. Merton Jump–Diffusion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SDE with jumps → MLE → MC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5. Option price comparison: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Calls &amp; puts across strikes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OTM puts: where BS fails catastrophically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Implied volatility smile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Option pricing at crisis events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6. Statistical model selection (LRT, AIC/BIC)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7. Future work: Heston &amp; Bates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1. Why Option Pricing Needs Better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• NIFTY 50 index options are among the most actively traded contracts globally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• Practitioners use Black-Scholes to price &amp; hedge — but it systematically misprices: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 – Deep out-of-the-money (OTM) PUTS are underpriced → inadequate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 – The "volatility smile" in market data contradicts BS flat-IV assumption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• Root cause: BS assumes Gaussian log-returns (thin tails + constant volatility)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→ assigns near-zero probability to large moves like COVID −13% day, election −8% gap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• This project: compare BS vs Merton Jump-Diffusion option prices on NIFTY 50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→ calibrate both models to historical data, then price European calls &amp; puts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→ quantify how much BS underprices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• References: Black &amp; Scholes (1973), Merton (1976)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2. Calibration Data: NIFTY 50 (2018–2024)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calibratio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50976"/>
            <a:ext cx="8595360" cy="5339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6253163"/>
            <a:ext cx="104033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NIFTY daily returns used to estimate model parameters via MLE. Left-tail zoom shows fat tails → BS underprices OTM puts.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Source: Yahoo Finance (^NSEI). Risk-free rate: RBI repo ≈ 6.5%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GBM SDE &amp; Log-Price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486400" cy="765408"/>
          </a:xfrm>
          <a:prstGeom prst="rect">
            <a:avLst/>
          </a:prstGeom>
        </p:spPr>
      </p:pic>
      <p:pic>
        <p:nvPicPr>
          <p:cNvPr id="6" name="Picture 5" descr="eq_ito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5486400" cy="951538"/>
          </a:xfrm>
          <a:prstGeom prst="rect">
            <a:avLst/>
          </a:prstGeom>
        </p:spPr>
      </p:pic>
      <p:pic>
        <p:nvPicPr>
          <p:cNvPr id="7" name="Picture 6" descr="eq_bs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5943600" cy="671471"/>
          </a:xfrm>
          <a:prstGeom prst="rect">
            <a:avLst/>
          </a:prstGeom>
        </p:spPr>
      </p:pic>
      <p:pic>
        <p:nvPicPr>
          <p:cNvPr id="8" name="Picture 7" descr="eq_bs_log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5943600" cy="999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GBM SDE → Itô's lemma gives the log-price SDE.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Integrating gives the log-normal terminal distribution S(T).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Daily log-returns are i.i.d. Gaussian — this is the model we fit via MLE.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estimated σ̂ is then plugged into the BS option pricing formula.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Maximum Likelihood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280160"/>
            <a:ext cx="6126480" cy="1112440"/>
          </a:xfrm>
          <a:prstGeom prst="rect">
            <a:avLst/>
          </a:prstGeom>
        </p:spPr>
      </p:pic>
      <p:pic>
        <p:nvPicPr>
          <p:cNvPr id="6" name="Picture 5" descr="eq_bs_mle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126480" cy="1174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MLE on n daily NIFTY returns. Closed-form for σ̂² and μ̂ exists for GBM.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We use numerical optimisation (Nelder-Mead) for consistency with MJD estimation.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key output for option pricing is σ̂ ≈ 17.8% (annualised).</a:t>
            </a:r>
          </a:p>
        </p:txBody>
      </p:sp>
      <p:pic>
        <p:nvPicPr>
          <p:cNvPr id="8" name="Picture 7" descr="eq_bs_risk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5486400" cy="772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For pricing: switch to risk-neutral measure Q (Girsanov). Drift becomes r_f, but σ stays the same.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Closed-Form Option Prices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86400" cy="871554"/>
          </a:xfrm>
          <a:prstGeom prst="rect">
            <a:avLst/>
          </a:prstGeom>
        </p:spPr>
      </p:pic>
      <p:pic>
        <p:nvPicPr>
          <p:cNvPr id="6" name="Picture 5" descr="eq_bs_d1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5943600" cy="911284"/>
          </a:xfrm>
          <a:prstGeom prst="rect">
            <a:avLst/>
          </a:prstGeom>
        </p:spPr>
      </p:pic>
      <p:pic>
        <p:nvPicPr>
          <p:cNvPr id="7" name="Picture 6" descr="eq_bs_m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5943600" cy="1385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celebrated BS formula gives exact European call (and put via put-call parity).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d₁ and d₂ encode moneyness, time to expiry, and volatility.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Monte Carlo estimator validates the closed-form: simulate N paths under Q, average discounted payoffs.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SE shrinks as 1/√N (CLT). [Glasserman, 2003]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t>Key limitation: σ is CONSTANT across all strikes and maturities → flat implied volatility surface.</a:t>
            </a:r>
          </a:p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t>→ In reality, NIFTY options trade with a pronounced volatility smile/skew. BS cannot reproduce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Merton Jump-Diffusion: SDE &amp; Log-Return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mjd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26480" cy="561172"/>
          </a:xfrm>
          <a:prstGeom prst="rect">
            <a:avLst/>
          </a:prstGeom>
        </p:spPr>
      </p:pic>
      <p:pic>
        <p:nvPicPr>
          <p:cNvPr id="6" name="Picture 5" descr="eq_mjd_ju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126480" cy="793617"/>
          </a:xfrm>
          <a:prstGeom prst="rect">
            <a:avLst/>
          </a:prstGeom>
        </p:spPr>
      </p:pic>
      <p:pic>
        <p:nvPicPr>
          <p:cNvPr id="7" name="Picture 6" descr="eq_mjd_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6126480" cy="837952"/>
          </a:xfrm>
          <a:prstGeom prst="rect">
            <a:avLst/>
          </a:prstGeom>
        </p:spPr>
      </p:pic>
      <p:pic>
        <p:nvPicPr>
          <p:cNvPr id="8" name="Picture 7" descr="eq_mjd_condit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6309360" cy="757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Superimposes compound Poisson jumps on GBM — captures sudden dislocations.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Itô for jump-diffusions: extra J dN(t) term in log-price.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Conditional on k jumps: Gaussian with shifted mean &amp; inflated variance.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directly explains why MJD produces different option prices from BS.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[Me76] Merton (1976), [CT04] Cont &amp; Tankov (2004).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MJD: Likelihood &amp; Excess Kurtosis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mjd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309360" cy="1063626"/>
          </a:xfrm>
          <a:prstGeom prst="rect">
            <a:avLst/>
          </a:prstGeom>
        </p:spPr>
      </p:pic>
      <p:pic>
        <p:nvPicPr>
          <p:cNvPr id="6" name="Picture 5" descr="eq_mjd_log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309360" cy="1360581"/>
          </a:xfrm>
          <a:prstGeom prst="rect">
            <a:avLst/>
          </a:prstGeom>
        </p:spPr>
      </p:pic>
      <p:pic>
        <p:nvPicPr>
          <p:cNvPr id="7" name="Picture 6" descr="eq_mj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5486400" cy="833377"/>
          </a:xfrm>
          <a:prstGeom prst="rect">
            <a:avLst/>
          </a:prstGeom>
        </p:spPr>
      </p:pic>
      <p:pic>
        <p:nvPicPr>
          <p:cNvPr id="8" name="Picture 7" descr="eq_mjd_kurto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80560"/>
            <a:ext cx="5669280" cy="147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Log-likelihood = sum of log Gaussian-mixture densities.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Maximised numerically (L-BFGS-B) over θ = (μ,σ,λ,μ_J,σ_J).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Variance decomposition: jump component λ(μ_J²+σ_J²) adds kurtosis.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Excess kurtosis &gt; 0 → fatter tails → higher OTM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is the precise mechanism by which MJD prices puts higher than 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ATM Option Prices: BS vs MJD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atm_option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13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Left: ATM call &amp; put prices. Centre: terminal S(T) distributions — MJD has heavier tails.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Right: put payoff distribution — MJD assigns more weight to large payoffs (crash scenarios).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Strikes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option_prices_across_str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8755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MJD puts are consistently more expensive than BS puts, especially for OTM puts (K/S₀ &lt; 1).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Bottom-right: percentage difference shows BS can underprice OTM puts by 20-100%+.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Implied Volatility Smile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iv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BS-implied volatility backed out from MJD option prices. MJD produces the smile that market data shows.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 can only produce a flat line — the "smile inconsistency" [Rubinstein, 1994].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OTM Put Pricing — Where BS Fails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otm_put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Deep OTM puts: MJD price can be 2–5× the BS price. This is crash protection that BS undervalues.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For a NIFTY options trader, using BS means systematically selling insurance too cheaply.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Maturities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option_term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MJD puts are consistently more expensive than BS across all maturities — the jump risk premium persists.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Difference is largest for shorter maturities where individual jumps have more impact.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 Sensitivity to Jump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_option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94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Non-linear interaction between λ and σ_J on option prices. Higher jump intensity and vol → higher option prices.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Monte Carlo Convergence (Option Prices)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8_mc_convergenc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 MC converges to closed-form; MJD converges to its own value. SE ∝ 1/√N confirmed.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Validates both implementations and the theoretical pricing framework [Glasserman, 2003].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Pricing at Indian Market Crises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1_event_option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68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At each crisis: BS put price vs MJD put price vs realised payoff. BS consistently underprices — positive error = underpricing.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Variance Reduction for Option Pricing MC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9_variance_reduction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26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Antithetic variates and control variates reduce MC standard error for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Control variate (using BS closed-form as control for MJD MC) gives ~50% SE reduction.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[Glasserman, 2003].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6. Statistical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mode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492500"/>
          </a:xfrm>
          <a:prstGeom prst="rect">
            <a:avLst/>
          </a:prstGeom>
        </p:spPr>
      </p:pic>
      <p:pic>
        <p:nvPicPr>
          <p:cNvPr id="6" name="Picture 5" descr="eq_l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0"/>
            <a:ext cx="5486400" cy="581891"/>
          </a:xfrm>
          <a:prstGeom prst="rect">
            <a:avLst/>
          </a:prstGeom>
        </p:spPr>
      </p:pic>
      <p:pic>
        <p:nvPicPr>
          <p:cNvPr id="7" name="Picture 6" descr="eq_aic_b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029200"/>
            <a:ext cx="5029200" cy="596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LRT p-value ≈ 0 → jumps are overwhelmingly significant. AIC &amp; BIC both prefer MJD despite penalty for 3 extra parameters.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Underlying Paths: How Jumps Affect S(T)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gbm_vs_mj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GBM paths are smooth; MJD paths have jumps (red dots). Jump events change the terminal distribution S(T),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which is what determines option payoffs max(S(T)−K, 0) or max(K−S(T), 0).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Return Diagnostics (Motivation for MJD)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3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823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QQ vs Normal: heavy-tailed departures → BS option mispricing. QQ vs MJD: better tail fit.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Summary: BS vs MJD Option Pricing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4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65479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Model Comparison for Option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Black-Scholes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Merton JD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Underlying SDE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Poisson jumps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 (μ, σ)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(μ, σ, λ, μ_J, σ_J)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Return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 mixture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Closed-form (BS formula)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Monte Carlo required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Implied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Flat (constant 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Smile / skew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OTM put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Systematically low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More realistic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Captures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 (jump component)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Analytic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Numerical MLE (L-BFGS-B)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7. Future Work &amp; Connection to Supervisor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End-term: extend option pricing comparison to stochastic volatility models: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Heston (1993): variance v(t) follows CIR process → produces full IV surface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Bates (1996): Heston + jumps → 8 parameters, most flexible model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Calibrate to live NIFTY option chain prices (not just returns)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Numerical challenge: CIR process has non-Lipschitz √v(t) coefficient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Standard Euler-Maruyama can give negative variance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Prof. Chaman Kumar's research directly addresses this: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Tamed Euler for Lévy SDEs [DKS16, SIAM J. Numer. Anal., 54(3)]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Tamed Milstein for super-linear coefficients [KS17, EJP 22]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Milstein for Markovian switching [KK20, J. Comp. Appl. Math. 377]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McKean-Vlasov equations [KNRS20] — future scope: mean-field option markets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Option Pricing Models: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[BS73] Black &amp; Scholes (1973). J. Political Economy, 81(3), 637–654.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[Me76] Merton (1976). J. Financial Economics, 3(1-2), 125–144.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[He93] Heston (1993). Review of Financial Studies, 6(2), 327–343.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[Ba96] Bates (1996). Review of Financial Studies, 9(1), 69–107.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Statistical &amp; Computational Methods: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[Aït-Sa02] Aït-Sahalia (2002). Econometrica, 70(1), 223–262.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[CT04] Cont &amp; Tankov (2004). Financial Modelling with Jump Processes.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[Gl03] Glasserman (2003). MC Methods in Financial Engineering.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[Ru94] Rubinstein (1994). J. Finance, 49(3), 771–818.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Supervisor's Research: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[DKS16] Dareiotis, Kumar &amp; Sabanis (2016). SIAM J. Numer. Anal., 54(3).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[KS17] Kumar &amp; Sabanis (2017). Electr. J. Probability, 22.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[KK20] Kumar &amp; Kumar (2020). J. Comp. Appl. Math., 377.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[KNRS20] Kumar, Neelima, Reisinger &amp; Stockinger (2020). arXiv:2006.00463.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Option Pricing: Black-Scholes vs Merton Jump-Diffusion</a:t>
            </a:r>
            <a:br/>
            <a:r>
              <a:t>on the Indian Stock Market (NIFTY 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Prof. Chaman Kumar | IIT Roorkee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2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1752</Words>
  <Application>Microsoft Office PowerPoint</Application>
  <PresentationFormat>Widescreen</PresentationFormat>
  <Paragraphs>164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MOHIT AGARWAL</cp:lastModifiedBy>
  <cp:revision>2</cp:revision>
  <dcterms:created xsi:type="dcterms:W3CDTF">2013-01-27T09:14:16Z</dcterms:created>
  <dcterms:modified xsi:type="dcterms:W3CDTF">2026-03-18T17:14:51Z</dcterms:modified>
  <cp:category/>
</cp:coreProperties>
</file>