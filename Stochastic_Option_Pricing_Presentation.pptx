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COMPARATIVE STUDY OF STOCHASTIC MODELS</a:t>
            </a:r>
            <a:br/>
            <a:r>
              <a:t>FOR OPTION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02F"/>
                </a:solidFill>
                <a:latin typeface="Calibri"/>
              </a:defRPr>
            </a:pPr>
            <a:r>
              <a:t>In the Indian Stock Market (NIFTY 50)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45720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EE"/>
                </a:solidFill>
                <a:latin typeface="Calibri"/>
              </a:defRPr>
            </a:pPr>
            <a:r>
              <a:t>Black-Scholes  →  Merton Jump-Diffusion  →  Heston  →  Bates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BBDD"/>
                </a:solidFill>
                <a:latin typeface="Calibri"/>
              </a:defRPr>
            </a:pPr>
            <a:r>
              <a:t>Project Report | Mid-Term Evaluation | Academic Year 2025-26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Under the supervision of Prof. Chaman 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Calibri"/>
              </a:defRPr>
            </a:pPr>
            <a:r>
              <a:t>Department of Mathematics, IIT Roorkee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 Motivation &amp; Background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 Data: NIFTY 50 (2018–2024)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 Black-Scholes Model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• GBM, MLE, Closed-Form, MC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 Merton Jump-Diffusion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• SDE, MLE, MC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5.  Empirical Comparison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• Tail Behavior, IV Smile, VaR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6.  Statistical Model Selection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  • LRT, AIC/BIC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7.  End-Term: Heston &amp; Bates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8.  Connection to Supervisor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1. Motivation &amp;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Indian derivatives market (NIFTY 50 options) is among the most liquid globally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Black-Scholes assumes constant volatility &amp; continuous paths — violated in practice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Extreme events in India: COVID crash (−13% single day), IL&amp;FS crisis,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election surprises — GBM cannot generate such dislocations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Project goal: rigorous comparison of increasingly sophisticated stochastic models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calibrated to NIFTY 50 data, benchmarked on empirical features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Model Hierarchy (each relaxes a key BS assumption):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BS (constant σ) → MJD (+ jumps) → Heston (+ stochastic vol) → Bates (+ both)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References: Black &amp; Scholes (1973), Merton (1976), Heston (1993), Bates (1996)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2. Data: NIFTY 50 (Jan 2018 – Dec 2024)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dat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69584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Source: Yahoo Finance (^NSEI) via yfinance | Risk-free rate: RBI repo rate ≈ 6.5%</a:t>
            </a:r>
          </a:p>
          <a:p>
            <a:pPr>
              <a:spcAft>
                <a:spcPts val="6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Empirical return distribution shows negative skewness and excess kurtosis — fat tails that BS ignores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3. Black-Scholes Model — Theory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Geometric Brownian Motion (GBM):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dS(t) = μ S(t) dt + σ S(t) dW(t)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By Itô's Lemma: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S(T) = S(0) · exp[ (μ − σ²/2)T + σ√T · Z ],   Z ~ N(0,1)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Log-returns:  r_t = ln(S_t/S_{t−1}) ~ N( (μ − σ²/2)Δt,  σ²Δt 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MLE Log-Likelihood: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ℓ(μ,σ) = −(n/2)ln(2π) − (n/2)ln(σ²Δt) − Σ (r_i − μ̃Δt)² / (2σ²Δt)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Risk-Neutral Pricing (Girsanov's theorem):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V(0) = e^{−r_f T} · E^Q[ Payoff(S(T)) ]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BS Call Formula:  C = S₀ N(d₁) − K e^{−r_f T} N(d₂)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d₁ = [ln(S₀/K) + (r_f + σ²/2)T] / (σ√T),   d₂ = d₁ − σ√T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[BS73] Black, F. &amp; Scholes, M. (1973). J. Political Economy, 81(3), 637–654.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[Aït-Sa02] Aït-Sahalia, Y. (2002). Econometrica, 70(1), 223–262.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3. Black-Scholes — MC Simulation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bs_paths_and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2229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MC estimator: Ĉ_MC = e^{−r_f T} · (1/N) Σ max(S_T^(i) − K, 0)   |   SE ~ 1/√N by CLT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MC price converges to closed-form, validating SDE↔pricing formula link [Glasserman, 2003]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4. Merton Jump-Diffusion — Theory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SDE (Physical Measure):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dS(t) = μ S(t) dt + σ S(t) dW(t) + S(t⁻)(e^J − 1) dN(t)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N(t) ~ Poisson(λ),   J ~ N(μ_J, σ_J²)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Log-return given k jumps: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r | N=k  ~  N( (μ − σ²/2)Δt + k·μ_J,   σ²Δt + k·σ_J² 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Marginal density (Gaussian mixture):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f(r) = Σ_{k=0}^∞  [e^{−λΔt}(λΔt)^k / k!] · φ(r; μ̃Δt + kμ_J, σ²Δt + kσ_J²)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Variance decomposition: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Var(r) = σ²Δt + λΔt·(μ_J² + σ_J²)   ← jump component adds excess kurtosis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Risk-Neutral drift:  κ = E[e^J − 1] = exp(μ_J + σ_J²/2) − 1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Compensated drift ensures E^Q[S(t)] = S(0)e^{r_f t}  (no-arbitrage)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Parameters: θ = (μ, σ, λ, μ_J, σ_J) — 5 params vs BS's 2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[Me76] Merton, R.C. (1976). J. Financial Economics, 3(1-2), 125-144.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[CT04] Cont, R. &amp; Tankov, P. (2004). Financial Modelling with Jump Processes.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4. GBM vs MJD — Sample Price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gbm_vs_mjd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214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Red dots mark jump events in MJD paths. GBM paths are smooth — unable to capture sudden dislocations.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MJD naturally models events like the −13% NIFTY crash on 23 March 2020.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Tail Behavior — BS vs MJD vs Empirical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tail_behavi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1009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MJD's Gaussian mixture captures fat tails; BS (pure Gaussian) dramatically underestimates extreme returns.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Excess kurtosis: BS = 0 (by definition), MJD = 3λ(μ_J² + σ_J²)² / σ⁴ &gt; 0, Empirical NIFTY &gt;&gt;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QQ Plots — Quantile Diagnostic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qq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823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QQ vs Normal: heavy-tailed departure from 45° line at extremes → BS misfit.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QQ vs MJD: better alignment in tails → MJD captures empirical quantile structure of NIFTY 50.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6. Statistical Model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model_comparison_crit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492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Likelihood Ratio Test:  LRT = 2[ℓ(MJD) − ℓ(BS)] ~ χ²(3) under H₀: λ=0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AIC = 2k − 2ℓ,  BIC = k·ln(n) − 2ℓ  — penalize complexity; MJD overcomes penalty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[Aït-Ja07] Aït-Sahalia &amp; Jacod (2007). Annals of Statistics, 35(1), 355-392.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Implied Volatility Smile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implied_volatility_sm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6377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BS produces flat IV by construction; MJD generates the "smile" / skew observed in NIFTY option markets.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This is the classical smile inconsistency — documented by Rubinstein (1994) [Ru94].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MJD Parameter Sensitivity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parameter_sensitiv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7147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Non-linear interaction between λ (jump intensity) and σ_J (jump volatility) — unavailable in BS world.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Higher λ and σ_J → substantially higher option prices, reflecting crash risk premium.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Monte Carlo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mc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2158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MC price → closed-form as N→∞, confirming 1/√N convergence rate (CLT).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Standard error comparison validates implementation correctness [Glasserman (2003)].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Indian Market Event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even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73777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577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Key events: IL&amp;FS crisis (Sep 2018), COVID crash (Mar 2020), Russia-Ukraine (Feb 2022), Election (Jun 2024)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BS assigns near-zero probability to such moves; MJD jump parameters capture this crash risk.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Tail Risk: Crash Probability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tail_risk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6377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BS vastly underestimates the probability of large daily losses — a critical failure for risk management.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MJD provides realistic tail probabilities closer to empirical NIFTY returns, essential under SEBI regulations.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Value-at-Risk Backtesting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var_back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70956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1% VaR breaches under BS Gaussian model exceed expected rate — BS fails Kupiec test.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Empirical VaR (from historical quantiles, analogous to MJD) stays closer to 1% expected rate.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Variance Reduction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3_variance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426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Antithetic variates: pair (Z, −Z) → roughly halves variance for smooth payoffs.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Control variate: use BS closed-form as control for MJD MC → 30-70% SE reduction near ATM.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[Gl03] Glasserman, P. (2003). Monte Carlo Methods in Financial Engineering. Springer.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7. End-Term: Heston Stochastic Volatility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Heston (1993) — variance v(t) follows CIR process: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dS(t) = r_f S(t) dt + √v(t) S(t) dW_S^Q(t)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dv(t) = κ[θ − v(t)] dt + ξ √v(t) dW_v^Q(t)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Corr(dW_S, dW_v) = ρ dt    (leverage effect: ρ &lt; 0)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Parameters: κ (mean-reversion), θ (long-run var), ξ (vol-of-vol), ρ (correlation), v₀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Feller condition: 2κθ &gt; ξ² ensures v(t) &gt; 0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Produces full implied volatility smile &amp; term structure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Semi-analytic pricing via Fourier inversion [Carr-Madan (1999)]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[He93] Heston, S.L. (1993). Review of Financial Studies, 6(2), 327-343.</a:t>
            </a:r>
          </a:p>
        </p:txBody>
      </p:sp>
      <p:pic>
        <p:nvPicPr>
          <p:cNvPr id="6" name="Picture 5" descr="14_heston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36922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7. Heston Implied Volatility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5_heston_iv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70301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Stochastic volatility produces realistic IV smile &amp; term structure — flat BS surface is a special case.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Negative ρ (leverage effect) creates the asymmetric skew observed in NIFTY index options.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8. Connection to Supervisor's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The CIR variance process √v(t) has non-globally-Lipschitz coefficients.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Standard Euler-Maruyama can produce negative variance — numerical instability.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Prof. Chaman Kumar's research directly addresses this: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• Tamed Euler scheme for Lévy-driven SDEs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  [DKS16] Dareiotis, Kumar &amp; Sabanis (2016). SIAM J. Numer. Anal., 54(3). IF: 2.712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• Explicit tamed Milstein for super-linear diffusion coefficients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  [KS17a] Kumar &amp; Sabanis (2017). Electronic J. Probability, 22, 1-19. IF: 1.123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• Milstein scheme for Lévy SDEs with super-linear coefficients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  [K20] Kumar (2020). DCDS-B. DOI: 10.3934/dcdsb.2020167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• Tamed Milstein for SDEs with Markovian switching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  [KK20] Kumar &amp; Kumar (2020). J. Comp. Appl. Math., 377. IF: 2.037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• McKean-Vlasov equations — future scope for mean-field option markets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  [KNRS20] Kumar, Neelima, Reisinger &amp; Stockinger (2020). arXiv:2006.00463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8. Tamed Euler — Numerical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6_tamed_euler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214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Standard Euler produces negative variance excursions; Tamed Euler (DKS16) maintains positivity.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Convergence rate: slope ≈ 0.5 (Euler) confirmed — matches theoretical rates from cited papers.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5. Option Prices — All Models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7_option_prices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214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MJD prices diverge from BS for OTM options (fat tails); Heston captures smile-driven deviation.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Bates (Heston + Jumps) will combine both effects — the most flexible model in this study.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Summary — Comprehensive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8_summa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65479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Model Comparison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Black-Scholes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Merton JD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Heston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Bates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SDE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+ Poisson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+ CIR vol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+ CIR + Jumps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Return dist.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Non-Gaussian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Non-Gaussian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Closed-form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Series approx.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Fourier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Fourier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Vol smile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 (flat IV)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smile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 smile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Jumps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Extreme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Analytic MLE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Numerical MLE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Option chain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Option chain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End-Term Evaluation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Planned Deliverables: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1. Full Heston calibration to NIFTY option chain (3 maturities × 7 strikes)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2. Bates model (Heston + Jumps) — 8-parameter calibration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3. Comprehensive 4-model comparison: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     • Option pricing RMSE on market prices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     • Implied volatility smile fit across strikes &amp; maturities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     • 1% VaR backtesting on 2023-24 NIFTY data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4. Sensitivity analysis: Greeks (Δ, Γ, V) under each model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5. Statistical model selection: LRT (nested), AIC/BIC (non-nested)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6. Numerical methods: Tamed Euler vs Standard Euler convergence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     for CIR process — connecting to Prof. Kumar's research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7. Future scope: McKean-Vlasov / mean-field game formulation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     for multi-agent option markets [KNRS20]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Foundational Models: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[BS73] Black &amp; Scholes (1973). J. Political Economy, 81(3), 637-654.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[Me76] Merton (1976). J. Financial Economics, 3(1-2), 125-144.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[He93] Heston (1993). Review of Financial Studies, 6(2), 327-343.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[Ba96] Bates (1996). Review of Financial Studies, 9(1), 69-107.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Statistical Methods: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[Aït-Sa02] Aït-Sahalia (2002). Econometrica, 70(1), 223-262.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[Aït-Ja07] Aït-Sahalia &amp; Jacod (2007). Annals of Statistics, 35(1), 355-392.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[CT04] Cont &amp; Tankov (2004). Financial Modelling with Jump Processes. CRC.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[Gl03] Glasserman (2003). MC Methods in Financial Engineering. Springer.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Supervisor's Research (Numerical SDE Methods):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[DKS16] Dareiotis, Kumar &amp; Sabanis (2016). SIAM J. Numer. Anal., 54(3).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[KS17] Kumar &amp; Sabanis (2017). Electr. J. Probability, 22, 1-19.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[KK20] Kumar &amp; Kumar (2020). J. Comp. Appl. Math., 377, 112917.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[K20] Kumar (2020). DCDS-B. DOI: 10.3934/dcdsb.2020167.</a:t>
            </a:r>
          </a:p>
          <a:p>
            <a:pPr>
              <a:spcAft>
                <a:spcPts val="6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[KNRS20] Kumar, Neelima, Reisinger &amp; Stockinger (2020). arXiv:2006.00463.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92608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CCEE"/>
                </a:solidFill>
                <a:latin typeface="Calibri"/>
              </a:defRPr>
            </a:pPr>
            <a:r>
              <a:t>Comparative Study of Stochastic Models for Option Pricing</a:t>
            </a:r>
            <a:br/>
            <a:r>
              <a:t>in the Indian Stock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Under the supervision of Prof. Chaman Kumar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Calibri"/>
              </a:defRPr>
            </a:pPr>
            <a:r>
              <a:t>Department of Mathematics, IIT Roorkee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02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