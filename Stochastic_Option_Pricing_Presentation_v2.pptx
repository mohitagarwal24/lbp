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COMPARATIVE STUDY OF STOCHASTIC MODELS</a:t>
            </a:r>
            <a:br/>
            <a:r>
              <a:t>FOR OPTION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2F"/>
                </a:solidFill>
                <a:latin typeface="Calibri"/>
              </a:defRPr>
            </a:pPr>
            <a:r>
              <a:t>Focus: Black–Scholes vs Merton Jump–Diffusion on NIFTY 50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5720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Project Report | Academic Year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supervision of Prof. Chaman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1. Motivation &amp; empirical stylised facts (Indian market)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2. Data: NIFTY 50 (2018–2024)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3. Black–Scholes model: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GBM SDE and log‑price solution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Maximum Likelihood Estimation (MLE)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Closed‑form pricing &amp; Monte Carlo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4. Merton Jump–Diffusion: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SDE with jumps and log‑return derivation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Gaussian‑mixture likelihood &amp; MLE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5. Evidence from NIFTY 50: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Fat tails, VaR failures, volatility smile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6. Model selection (LRT, AIC/BIC) &amp; future work (Heston/Bates)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1. Motivation &amp;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• Indian derivatives market (NIFTY 50 options) is among the most liquid globally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• Black-Scholes assumes constant volatility &amp; continuous paths — violated in practice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• Extreme events in India: COVID crash (−13% single day), IL&amp;FS crisis,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   election surprises — GBM cannot generate such dislocations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• Project goal: rigorous comparison of increasingly sophisticated stochastic models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   calibrated to NIFTY 50 data, benchmarked on empirical features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Model Hierarchy (each relaxes a key BS assumption):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   BS (constant σ) → MJD (+ jumps) → Heston (+ stochastic vol) → Bates (+ both)</a:t>
            </a: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600">
                <a:solidFill>
                  <a:srgbClr val="000000"/>
                </a:solidFill>
                <a:latin typeface="Calibri"/>
              </a:defRPr>
            </a:pPr>
            <a:r>
              <a:t>References: Black &amp; Scholes (1973), Merton (1976), Heston (1993), Bates (1996)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2. Data: NIFTY 50 (Jan 2018 – Dec 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6958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Source: Yahoo Finance (^NSEI) via yfinance | Risk-free rate: RBI repo rate ≈ 6.5%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Empirical return distribution shows negative skewness and excess kurtosis — fat tails that BS ignores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3. Black-Scholes Model —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486400" cy="765408"/>
          </a:xfrm>
          <a:prstGeom prst="rect">
            <a:avLst/>
          </a:prstGeom>
        </p:spPr>
      </p:pic>
      <p:pic>
        <p:nvPicPr>
          <p:cNvPr id="6" name="Picture 5" descr="eq_ito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5486400" cy="951538"/>
          </a:xfrm>
          <a:prstGeom prst="rect">
            <a:avLst/>
          </a:prstGeom>
        </p:spPr>
      </p:pic>
      <p:pic>
        <p:nvPicPr>
          <p:cNvPr id="7" name="Picture 6" descr="eq_bs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5943600" cy="671471"/>
          </a:xfrm>
          <a:prstGeom prst="rect">
            <a:avLst/>
          </a:prstGeom>
        </p:spPr>
      </p:pic>
      <p:pic>
        <p:nvPicPr>
          <p:cNvPr id="8" name="Picture 7" descr="eq_bs_log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06240"/>
            <a:ext cx="5943600" cy="999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2801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GBM SDE → log‑price SDE via Itô’s lemma.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Solution gives log‑normal terminal distribution; daily log‑returns Gaussian with mean (μ−σ²/2)Δt.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These expressions feed directly into the MLE and Monte Carlo estimator.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[BS73] Black &amp; Scholes (1973), [Aït‑Sa02] Aït‑Sahalia (2002).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Black-Scholes — Maximum Likelihood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126480" cy="1112440"/>
          </a:xfrm>
          <a:prstGeom prst="rect">
            <a:avLst/>
          </a:prstGeom>
        </p:spPr>
      </p:pic>
      <p:pic>
        <p:nvPicPr>
          <p:cNvPr id="6" name="Picture 5" descr="eq_bs_mle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126480" cy="1174242"/>
          </a:xfrm>
          <a:prstGeom prst="rect">
            <a:avLst/>
          </a:prstGeom>
        </p:spPr>
      </p:pic>
      <p:pic>
        <p:nvPicPr>
          <p:cNvPr id="7" name="Picture 6" descr="eq_bs_risk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5486400" cy="772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3716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Under discretely observed GBM, log‑returns are i.i.d. Gaussian ⇒ closed‑form MLE for (μ,σ).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We still use numerical optimisation (Nelder–Mead) to match the framework used later for MJD.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Risk‑neutral drift replaces μ by r_f, but the volatility estimate σ̂_MLE is carried into pricing.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slide is where you can explicitly mention numerical values of μ̂ and σ̂ from the code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Merton Jump-Diffusion — SDE &amp; Log-Return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26480" cy="561172"/>
          </a:xfrm>
          <a:prstGeom prst="rect">
            <a:avLst/>
          </a:prstGeom>
        </p:spPr>
      </p:pic>
      <p:pic>
        <p:nvPicPr>
          <p:cNvPr id="6" name="Picture 5" descr="eq_mjd_ju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126480" cy="793617"/>
          </a:xfrm>
          <a:prstGeom prst="rect">
            <a:avLst/>
          </a:prstGeom>
        </p:spPr>
      </p:pic>
      <p:pic>
        <p:nvPicPr>
          <p:cNvPr id="7" name="Picture 6" descr="eq_mjd_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6126480" cy="837952"/>
          </a:xfrm>
          <a:prstGeom prst="rect">
            <a:avLst/>
          </a:prstGeom>
        </p:spPr>
      </p:pic>
      <p:pic>
        <p:nvPicPr>
          <p:cNvPr id="8" name="Picture 7" descr="eq_mjd_condit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6309360" cy="757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Jump term S(t−)(e^J − 1)dN(t) superimposes compound Poisson jumps on GBM.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Applying Itô for jump–diffusions gives d(ln S) with an extra J dN(t) term.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Conditioning on N=k jumps → Gaussian with shifted mean/variance;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marginalising over k gives a Poisson‑weighted Gaussian mixture.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[Me76] Merton (1976), [CT04] Cont &amp; Tankov (2004).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Merton Jump-Diffusion — Likelihood &amp; Moments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309360" cy="1063626"/>
          </a:xfrm>
          <a:prstGeom prst="rect">
            <a:avLst/>
          </a:prstGeom>
        </p:spPr>
      </p:pic>
      <p:pic>
        <p:nvPicPr>
          <p:cNvPr id="6" name="Picture 5" descr="eq_mjd_log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309360" cy="1360581"/>
          </a:xfrm>
          <a:prstGeom prst="rect">
            <a:avLst/>
          </a:prstGeom>
        </p:spPr>
      </p:pic>
      <p:pic>
        <p:nvPicPr>
          <p:cNvPr id="7" name="Picture 6" descr="eq_mj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5486400" cy="833377"/>
          </a:xfrm>
          <a:prstGeom prst="rect">
            <a:avLst/>
          </a:prstGeom>
        </p:spPr>
      </p:pic>
      <p:pic>
        <p:nvPicPr>
          <p:cNvPr id="8" name="Picture 7" descr="eq_mjd_kurto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80560"/>
            <a:ext cx="5669280" cy="147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Log‑likelihood is a sum of log Gaussian‑mixture densities evaluated at NIFTY log‑returns.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We maximise ℓ(θ) numerically (L‑BFGS‑B) over θ = (μ, σ, λ, μ_J, σ_J).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Variance decomposition highlights the role of λ(μ_J²+σ_J²) term in generating fat tails.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Closed‑form excess kurtosis shows MJD can match empirical kurtosis where BS cannot.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4. GBM vs MJD — Sample Price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gbm_vs_mj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8763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Top row: GBM paths are smooth; MJD paths show red vertical lines and dots at jump times.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Bottom‑left: single‑path decomposition — diffusion only vs diffusion+jumps; arrows show discrete jumps.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Bottom‑right: histogram of jump sizes J ~ N(μ_J, σ_J²); most jumps are small but frequent (λ≈23/year).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Tail Behavior — BS vs MJD vs Empirical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tail_behavi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1009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MJD's Gaussian mixture captures fat tails; BS (pure Gaussian) dramatically underestimates extreme returns.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Excess kurtosis: BS = 0 (by definition), MJD = 3λ(μ_J² + σ_J²)² / σ⁴ &gt; 0, Empirical NIFTY &gt;&gt;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QQ Plots — Quantile Diagnostic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823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QQ vs Normal: heavy-tailed departure from 45° line at extremes → BS misfit.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QQ vs MJD: better alignment in tails → MJD captures empirical quantile structure of NIFTY 50.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6. Statistical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model_comparison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49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Likelihood Ratio Test:  LRT = 2[ℓ(MJD) − ℓ(BS)] ~ χ²(3) under H₀: λ=0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AIC = 2k − 2ℓ,  BIC = k·ln(n) − 2ℓ  — penalize complexity; MJD overcomes penalty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[Aït-Ja07] Aït-Sahalia &amp; Jacod (2007). Annals of Statistics, 35(1), 355-392.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Implied Volatility Smile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implied_volatility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BS produces flat IV by construction; MJD generates the "smile" / skew observed in NIFTY option markets.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This is the classical smile inconsistency — documented by Rubinstein (1994) [Ru94].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MJD Parameter Sensitivity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parameter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714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Non-linear interaction between λ (jump intensity) and σ_J (jump volatility) — unavailable in BS world.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Higher λ and σ_J → substantially higher option prices, reflecting crash risk premium.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Monte Carlo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mc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5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MC price → closed-form as N→∞, confirming 1/√N convergence rate (CLT).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Standard error comparison validates implementation correctness [Glasserman (2003)].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Indian Market Event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ev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3777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77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Key events: IL&amp;FS crisis (Sep 2018), COVID crash (Mar 2020), Russia-Ukraine (Feb 2022), Election (Jun 2024)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BS assigns near-zero probability to such moves; MJD jump parameters capture this crash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Tail Risk: Crash Probability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tail_risk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BS vastly underestimates the probability of large daily losses — a critical failure for risk management.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MJD provides realistic tail probabilities closer to empirical NIFTY returns, essential under SEBI regulations.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Value-at-Risk Backtesting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var_back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095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1% VaR breaches under BS Gaussian model exceed expected rate — BS fails Kupiec test.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Empirical VaR (from historical quantiles, analogous to MJD) stays closer to 1% expected rate.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Variance Reduction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varianc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26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Antithetic variates: pair (Z, −Z) → roughly halves variance for smooth payoffs.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Control variate: use BS closed-form as control for MJD MC → 30-70% SE reduction near ATM.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[Gl03] Glasserman, P. (2003). Monte Carlo Methods in Financial Engineering. Springer.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7. End-Term: Heston Stochastic Volatility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Heston (1993) — variance v(t) follows CIR process: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dS(t) = r_f S(t) dt + √v(t) S(t) dW_S^Q(t)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dv(t) = κ[θ − v(t)] dt + ξ √v(t) dW_v^Q(t)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Corr(dW_S, dW_v) = ρ dt    (leverage effect: ρ &lt; 0)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Parameters: κ (mean-reversion), θ (long-run var), ξ (vol-of-vol), ρ (correlation), v₀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Feller condition: 2κθ &gt; ξ² ensures v(t) &gt; 0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Produces full implied volatility smile &amp; term structure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Semi-analytic pricing via Fourier inversion [Carr-Madan (1999)]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[He93] Heston, S.L. (1993). Review of Financial Studies, 6(2), 327-343.</a:t>
            </a:r>
          </a:p>
        </p:txBody>
      </p:sp>
      <p:pic>
        <p:nvPicPr>
          <p:cNvPr id="6" name="Picture 5" descr="14_heston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36922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7. Heston Implied Volatility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heston_iv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030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Stochastic volatility produces realistic IV smile &amp; term structure — flat BS surface is a special case.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Negative ρ (leverage effect) creates the asymmetric skew observed in NIFTY index options.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8. Connection to Supervisor's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CIR variance process √v(t) has non-globally-Lipschitz coefficients.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Standard Euler-Maruyama can produce negative variance — numerical instability.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Prof. Chaman Kumar's research directly addresses this: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• Tamed Euler scheme for Lévy-driven SDEs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 [DKS16] Dareiotis, Kumar &amp; Sabanis (2016). SIAM J. Numer. Anal., 54(3). IF: 2.712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• Explicit tamed Milstein for super-linear diffusion coefficients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 [KS17a] Kumar &amp; Sabanis (2017). Electronic J. Probability, 22, 1-19. IF: 1.123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• Milstein scheme for Lévy SDEs with super-linear coefficients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 [K20] Kumar (2020). DCDS-B. DOI: 10.3934/dcdsb.2020167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• Tamed Milstein for SDEs with Markovian switching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 [KK20] Kumar &amp; Kumar (2020). J. Comp. Appl. Math., 377. IF: 2.037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• McKean-Vlasov equations — future scope for mean-field option markets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 [KNRS20] Kumar, Neelima, Reisinger &amp; Stockinger (2020). arXiv:2006.00463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8. Tamed Euler — Numerical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_tamed_euler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4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Standard Euler produces negative variance excursions; Tamed Euler (DKS16) maintains positivity.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Convergence rate: slope ≈ 0.5 (Euler) confirmed — matches theoretical rates from cited papers.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Option Prices — All 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option_pric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4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MJD prices diverge from BS for OTM options (fat tails); Heston captures smile-driven deviation.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Bates (Heston + Jumps) will combine both effects — the most flexible model in this study.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Summary — Comprehensive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_summ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65479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Model Comparison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Black-Scholes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Merton JD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Heston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SDE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CIR vol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CIR + Jumps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Return dist.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Non-Gaussian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Non-Gaussian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Closed-form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Series approx.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Fourier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Fourier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 smile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(flat 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smile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smile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Jumps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Extreme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Analytic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Numerical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chain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chain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End-Term Evaluation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Planned Deliverables: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1. Full Heston calibration to NIFTY option chain (3 maturities × 7 strikes)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2. Bates model (Heston + Jumps) — 8-parameter calibration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3. Comprehensive 4-model comparison: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  • Option pricing RMSE on market prices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  • Implied volatility smile fit across strikes &amp; maturities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  • 1% VaR backtesting on 2023-24 NIFTY data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4. Sensitivity analysis: Greeks (Δ, Γ, V) under each model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5. Statistical model selection: LRT (nested), AIC/BIC (non-nested)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6. Numerical methods: Tamed Euler vs Standard Euler convergence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  for CIR process — connecting to Prof. Kumar's research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7. Future scope: McKean-Vlasov / mean-field game formulation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  for multi-agent option markets [KNRS20]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Foundational Models: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[BS73] Black &amp; Scholes (1973). J. Political Economy, 81(3), 637-654.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[Me76] Merton (1976). J. Financial Economics, 3(1-2), 125-144.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[He93] Heston (1993). Review of Financial Studies, 6(2), 327-343.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[Ba96] Bates (1996). Review of Financial Studies, 9(1), 69-107.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Statistical Methods: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[Aït-Sa02] Aït-Sahalia (2002). Econometrica, 70(1), 223-262.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[Aït-Ja07] Aït-Sahalia &amp; Jacod (2007). Annals of Statistics, 35(1), 355-392.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[CT04] Cont &amp; Tankov (2004). Financial Modelling with Jump Processes. CRC.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[Gl03] Glasserman (2003). MC Methods in Financial Engineering. Springer.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Supervisor's Research (Numerical SDE Methods):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[DKS16] Dareiotis, Kumar &amp; Sabanis (2016). SIAM J. Numer. Anal., 54(3).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[KS17] Kumar &amp; Sabanis (2017). Electr. J. Probability, 22, 1-19.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[KK20] Kumar &amp; Kumar (2020). J. Comp. Appl. Math., 377, 112917.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[K20] Kumar (2020). DCDS-B. DOI: 10.3934/dcdsb.2020167.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[KNRS20] Kumar, Neelima, Reisinger &amp; Stockinger (2020). arXiv:2006.00463.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Comparative Study of Stochastic Models for Option Pricing</a:t>
            </a:r>
            <a:br/>
            <a:r>
              <a:t>in the Indian Stock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the supervision of Prof. Chaman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2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