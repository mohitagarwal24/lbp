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628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673838-57D7-4043-B808-D0BFDB7E8F3B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32424A-E7EE-4B76-86F1-9C42C6FD20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07091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32424A-E7EE-4B76-86F1-9C42C6FD206F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15155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3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D6CFCCE-EFBD-7845-CD5A-D2150FFB843C}"/>
              </a:ext>
            </a:extLst>
          </p:cNvPr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4BB4472-03A1-8194-D6A7-ACE4D56FC767}"/>
              </a:ext>
            </a:extLst>
          </p:cNvPr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2A09E6-4D13-9F56-B2F2-E383866AC0EA}"/>
              </a:ext>
            </a:extLst>
          </p:cNvPr>
          <p:cNvSpPr txBox="1"/>
          <p:nvPr/>
        </p:nvSpPr>
        <p:spPr>
          <a:xfrm>
            <a:off x="1371600" y="9144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COMPARATIVE STUDY OF STOCHASTIC MODELS</a:t>
            </a:r>
            <a:br/>
            <a:r>
              <a:t>FOR OPTION PRICING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C91E1E8-E475-4E96-CE3C-CE47E97A0A27}"/>
              </a:ext>
            </a:extLst>
          </p:cNvPr>
          <p:cNvSpPr txBox="1"/>
          <p:nvPr/>
        </p:nvSpPr>
        <p:spPr>
          <a:xfrm>
            <a:off x="1371600" y="2560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D4A02F"/>
                </a:solidFill>
                <a:latin typeface="Calibri"/>
              </a:defRPr>
            </a:pPr>
            <a:r>
              <a:t>In the Indian Stock Market (NIFTY 50)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191E1BD-2A11-02EA-7351-1A023CAF86BB}"/>
              </a:ext>
            </a:extLst>
          </p:cNvPr>
          <p:cNvSpPr/>
          <p:nvPr/>
        </p:nvSpPr>
        <p:spPr>
          <a:xfrm>
            <a:off x="3657600" y="3291840"/>
            <a:ext cx="457200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A6CC3F-7804-7E66-8682-A1E4FEFC0021}"/>
              </a:ext>
            </a:extLst>
          </p:cNvPr>
          <p:cNvSpPr txBox="1"/>
          <p:nvPr/>
        </p:nvSpPr>
        <p:spPr>
          <a:xfrm>
            <a:off x="1371600" y="3566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ACCEE"/>
                </a:solidFill>
                <a:latin typeface="Calibri"/>
              </a:defRPr>
            </a:pPr>
            <a:r>
              <a:t>Black-Scholes  →  Merton Jump-Diffusion  →  Heston  →  Bates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1E583F-B447-0387-6FA0-918A0F171A4C}"/>
              </a:ext>
            </a:extLst>
          </p:cNvPr>
          <p:cNvSpPr txBox="1"/>
          <p:nvPr/>
        </p:nvSpPr>
        <p:spPr>
          <a:xfrm>
            <a:off x="1371600" y="4572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BBDD"/>
                </a:solidFill>
                <a:latin typeface="Calibri"/>
              </a:defRPr>
            </a:pPr>
            <a:r>
              <a:t>Project Report | Mid-Term Evaluation | Academic Year 2025-26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6822657-6566-8853-6E16-7308E04EFBFA}"/>
              </a:ext>
            </a:extLst>
          </p:cNvPr>
          <p:cNvSpPr txBox="1"/>
          <p:nvPr/>
        </p:nvSpPr>
        <p:spPr>
          <a:xfrm>
            <a:off x="1371600" y="5120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Under the supervision of Prof. Chaman Kumar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8A28CFC-5126-65A3-0C24-DEC706626026}"/>
              </a:ext>
            </a:extLst>
          </p:cNvPr>
          <p:cNvSpPr txBox="1"/>
          <p:nvPr/>
        </p:nvSpPr>
        <p:spPr>
          <a:xfrm>
            <a:off x="1371600" y="5669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BBDD"/>
                </a:solidFill>
                <a:latin typeface="Calibri"/>
              </a:defRPr>
            </a:pPr>
            <a:r>
              <a:t>Department of Mathematics, IIT Roorkee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6B"/>
                </a:solidFill>
                <a:latin typeface="Calibri"/>
              </a:defRPr>
            </a:pPr>
            <a:r>
              <a:t>Outline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5029200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000000"/>
                </a:solidFill>
                <a:latin typeface="Calibri"/>
              </a:defRPr>
            </a:pPr>
            <a:r>
              <a:rPr dirty="0"/>
              <a:t>1. Motivation: why option pricing needs better models</a:t>
            </a:r>
          </a:p>
          <a:p>
            <a:pPr>
              <a:defRPr sz="1700">
                <a:solidFill>
                  <a:srgbClr val="000000"/>
                </a:solidFill>
                <a:latin typeface="Calibri"/>
              </a:defRPr>
            </a:pPr>
            <a:r>
              <a:rPr dirty="0"/>
              <a:t>2. Data &amp; Model Calibration (MLE on NIFTY returns)</a:t>
            </a:r>
          </a:p>
          <a:p>
            <a:pPr>
              <a:defRPr sz="1700">
                <a:solidFill>
                  <a:srgbClr val="000000"/>
                </a:solidFill>
                <a:latin typeface="Calibri"/>
              </a:defRPr>
            </a:pPr>
            <a:r>
              <a:rPr dirty="0"/>
              <a:t>3. Black–Scholes option </a:t>
            </a:r>
            <a:r>
              <a:rPr sz="2000" dirty="0"/>
              <a:t>pricing</a:t>
            </a:r>
            <a:r>
              <a:rPr dirty="0"/>
              <a:t>:</a:t>
            </a:r>
          </a:p>
          <a:p>
            <a:pPr>
              <a:defRPr sz="1700">
                <a:solidFill>
                  <a:srgbClr val="000000"/>
                </a:solidFill>
                <a:latin typeface="Calibri"/>
              </a:defRPr>
            </a:pPr>
            <a:r>
              <a:rPr dirty="0"/>
              <a:t>   • GBM SDE → MLE → closed-form call/put → MC</a:t>
            </a:r>
          </a:p>
          <a:p>
            <a:pPr>
              <a:defRPr sz="1700">
                <a:solidFill>
                  <a:srgbClr val="000000"/>
                </a:solidFill>
                <a:latin typeface="Calibri"/>
              </a:defRPr>
            </a:pPr>
            <a:r>
              <a:rPr dirty="0"/>
              <a:t>4. Merton Jump–Diffusion option pricing:</a:t>
            </a:r>
          </a:p>
          <a:p>
            <a:pPr>
              <a:defRPr sz="1700">
                <a:solidFill>
                  <a:srgbClr val="000000"/>
                </a:solidFill>
                <a:latin typeface="Calibri"/>
              </a:defRPr>
            </a:pPr>
            <a:r>
              <a:rPr dirty="0"/>
              <a:t>   • SDE with jumps → MLE → MC pricing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883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000000"/>
                </a:solidFill>
                <a:latin typeface="Calibri"/>
              </a:defRPr>
            </a:pPr>
            <a:r>
              <a:rPr dirty="0"/>
              <a:t>5. Option price comparison:</a:t>
            </a:r>
          </a:p>
          <a:p>
            <a:pPr>
              <a:defRPr sz="1700">
                <a:solidFill>
                  <a:srgbClr val="000000"/>
                </a:solidFill>
                <a:latin typeface="Calibri"/>
              </a:defRPr>
            </a:pPr>
            <a:r>
              <a:rPr dirty="0"/>
              <a:t>   • Calls &amp; puts across strikes</a:t>
            </a:r>
          </a:p>
          <a:p>
            <a:pPr>
              <a:defRPr sz="1700">
                <a:solidFill>
                  <a:srgbClr val="000000"/>
                </a:solidFill>
                <a:latin typeface="Calibri"/>
              </a:defRPr>
            </a:pPr>
            <a:r>
              <a:rPr dirty="0"/>
              <a:t>   • OTM puts: where BS fails catastrophically</a:t>
            </a:r>
          </a:p>
          <a:p>
            <a:pPr>
              <a:defRPr sz="1700">
                <a:solidFill>
                  <a:srgbClr val="000000"/>
                </a:solidFill>
                <a:latin typeface="Calibri"/>
              </a:defRPr>
            </a:pPr>
            <a:r>
              <a:rPr dirty="0"/>
              <a:t>   • Implied volatility smile</a:t>
            </a:r>
          </a:p>
          <a:p>
            <a:pPr>
              <a:defRPr sz="1700">
                <a:solidFill>
                  <a:srgbClr val="000000"/>
                </a:solidFill>
                <a:latin typeface="Calibri"/>
              </a:defRPr>
            </a:pPr>
            <a:r>
              <a:rPr dirty="0"/>
              <a:t>   • Option pricing at crisis events</a:t>
            </a:r>
          </a:p>
          <a:p>
            <a:pPr>
              <a:defRPr sz="1700">
                <a:solidFill>
                  <a:srgbClr val="000000"/>
                </a:solidFill>
                <a:latin typeface="Calibri"/>
              </a:defRPr>
            </a:pPr>
            <a:r>
              <a:rPr dirty="0"/>
              <a:t>6. Statistical model selection (LRT, AIC/BIC)</a:t>
            </a:r>
          </a:p>
          <a:p>
            <a:pPr>
              <a:defRPr sz="1700">
                <a:solidFill>
                  <a:srgbClr val="000000"/>
                </a:solidFill>
                <a:latin typeface="Calibri"/>
              </a:defRPr>
            </a:pPr>
            <a:r>
              <a:rPr dirty="0"/>
              <a:t>7. Future work: Heston &amp; Bates models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6B"/>
                </a:solidFill>
                <a:latin typeface="Calibri"/>
              </a:defRPr>
            </a:pPr>
            <a:r>
              <a:t>1. Why Option Pricing Needs Better Models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  <a:r>
              <a:rPr sz="2000" dirty="0"/>
              <a:t>• NIFTY 50 index options are among the most actively traded contracts globally</a:t>
            </a:r>
          </a:p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  <a:r>
              <a:rPr sz="2000" dirty="0"/>
              <a:t>• Practitioners use Black-Scholes to price &amp; hedge — but it systematically misprices:</a:t>
            </a:r>
          </a:p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  <a:r>
              <a:rPr sz="2000" dirty="0"/>
              <a:t>   – Deep out-of-the-money (OTM) PUTS are underpriced → inadequate crash protection</a:t>
            </a:r>
          </a:p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  <a:r>
              <a:rPr sz="2000" dirty="0"/>
              <a:t>   – The "volatility smile" in market data contradicts BS flat-IV assumption</a:t>
            </a:r>
          </a:p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  <a:endParaRPr sz="2000" dirty="0"/>
          </a:p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  <a:r>
              <a:rPr sz="2000" dirty="0"/>
              <a:t>• Root cause: BS assumes Gaussian log-returns (thin tails + constant volatility)</a:t>
            </a:r>
          </a:p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  <a:r>
              <a:rPr sz="2000" dirty="0"/>
              <a:t>  → assigns near-zero probability to large moves like COVID −13% day, election −8% gap</a:t>
            </a:r>
          </a:p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  <a:endParaRPr sz="2000" dirty="0"/>
          </a:p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  <a:r>
              <a:rPr sz="2000" dirty="0"/>
              <a:t>• This project: compare BS vs Merton Jump-Diffusion option prices on NIFTY 50</a:t>
            </a:r>
          </a:p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  <a:r>
              <a:rPr sz="2000" dirty="0"/>
              <a:t>  → calibrate both models to historical data, then price European calls &amp; puts</a:t>
            </a:r>
          </a:p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  <a:r>
              <a:rPr sz="2000" dirty="0"/>
              <a:t>  → quantify how much BS underprices crash protection</a:t>
            </a:r>
          </a:p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  <a:endParaRPr sz="2000" dirty="0"/>
          </a:p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  <a:r>
              <a:rPr sz="2000" dirty="0"/>
              <a:t>• References: Black &amp; Scholes (1973), Merton (1976)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6B"/>
                </a:solidFill>
                <a:latin typeface="Calibri"/>
              </a:defRPr>
            </a:pPr>
            <a:r>
              <a:t>2. Calibration Data: NIFTY 50 (2018–2024)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01_calibration_da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914400"/>
            <a:ext cx="8908026" cy="553377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" y="6365557"/>
            <a:ext cx="10959035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44444"/>
                </a:solidFill>
                <a:latin typeface="Calibri"/>
              </a:defRPr>
            </a:pPr>
            <a:r>
              <a:rPr dirty="0"/>
              <a:t>NIFTY daily returns used to estimate model parameters via MLE. Left-tail zoom shows fat tails → BS underprices OTM puts.</a:t>
            </a:r>
          </a:p>
          <a:p>
            <a:pPr>
              <a:defRPr sz="1300">
                <a:solidFill>
                  <a:srgbClr val="444444"/>
                </a:solidFill>
                <a:latin typeface="Calibri"/>
              </a:defRPr>
            </a:pPr>
            <a:r>
              <a:rPr dirty="0"/>
              <a:t>Source: Yahoo Finance (^NSEI). Risk-free rate: RBI repo ≈ 6.5%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6B"/>
                </a:solidFill>
                <a:latin typeface="Calibri"/>
              </a:defRPr>
            </a:pPr>
            <a:r>
              <a:t>3. Black–Scholes: GBM SDE &amp; Log-Price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eq_bs_s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407524"/>
            <a:ext cx="5120640" cy="714381"/>
          </a:xfrm>
          <a:prstGeom prst="rect">
            <a:avLst/>
          </a:prstGeom>
        </p:spPr>
      </p:pic>
      <p:pic>
        <p:nvPicPr>
          <p:cNvPr id="6" name="Picture 5" descr="eq_ito_lem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207" y="2303960"/>
            <a:ext cx="5120640" cy="888102"/>
          </a:xfrm>
          <a:prstGeom prst="rect">
            <a:avLst/>
          </a:prstGeom>
        </p:spPr>
      </p:pic>
      <p:pic>
        <p:nvPicPr>
          <p:cNvPr id="7" name="Picture 6" descr="eq_bs_solu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512598"/>
            <a:ext cx="5943600" cy="671471"/>
          </a:xfrm>
          <a:prstGeom prst="rect">
            <a:avLst/>
          </a:prstGeom>
        </p:spPr>
      </p:pic>
      <p:pic>
        <p:nvPicPr>
          <p:cNvPr id="8" name="Picture 7" descr="eq_bs_logr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545046"/>
            <a:ext cx="5614219" cy="94455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18857" y="1479152"/>
            <a:ext cx="5166360" cy="1923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rPr sz="1700" dirty="0"/>
              <a:t>GBM SDE → </a:t>
            </a:r>
            <a:r>
              <a:rPr sz="1700" dirty="0" err="1"/>
              <a:t>Itô's</a:t>
            </a:r>
            <a:r>
              <a:rPr sz="1700" dirty="0"/>
              <a:t> lemma gives the log-price SDE.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rPr sz="1700" dirty="0"/>
              <a:t>Integrating gives the log-normal terminal distribution S(T).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rPr sz="1700" dirty="0"/>
              <a:t>Daily log-returns are </a:t>
            </a:r>
            <a:r>
              <a:rPr sz="1700" dirty="0" err="1"/>
              <a:t>i.i.d.</a:t>
            </a:r>
            <a:r>
              <a:rPr sz="1700" dirty="0"/>
              <a:t> Gaussian — this is the model we fit via MLE.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rPr sz="1700" dirty="0"/>
              <a:t>The estimated σ̂ is then plugged into the BS option pricing formula.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6B"/>
                </a:solidFill>
                <a:latin typeface="Calibri"/>
              </a:defRPr>
            </a:pPr>
            <a:r>
              <a:t>3. Black–Scholes PDE: Eliminating dW(t) via Delta Hedging (Proof)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eq_bs_portfol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933" y="1237254"/>
            <a:ext cx="5669280" cy="649760"/>
          </a:xfrm>
          <a:prstGeom prst="rect">
            <a:avLst/>
          </a:prstGeom>
        </p:spPr>
      </p:pic>
      <p:pic>
        <p:nvPicPr>
          <p:cNvPr id="6" name="Picture 5" descr="eq_bs_ito_op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011680"/>
            <a:ext cx="6217920" cy="765282"/>
          </a:xfrm>
          <a:prstGeom prst="rect">
            <a:avLst/>
          </a:prstGeom>
        </p:spPr>
      </p:pic>
      <p:pic>
        <p:nvPicPr>
          <p:cNvPr id="7" name="Picture 6" descr="eq_bs_delta_hed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007" y="2947718"/>
            <a:ext cx="5943600" cy="645712"/>
          </a:xfrm>
          <a:prstGeom prst="rect">
            <a:avLst/>
          </a:prstGeom>
        </p:spPr>
      </p:pic>
      <p:pic>
        <p:nvPicPr>
          <p:cNvPr id="8" name="Picture 7" descr="eq_bs_p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030" y="3930093"/>
            <a:ext cx="6583680" cy="73211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071360" y="1092174"/>
            <a:ext cx="512064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rPr sz="1600" dirty="0"/>
              <a:t>Portfolio Π = long 1 option, short Δ shares.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rPr sz="1600" dirty="0"/>
              <a:t>Apply </a:t>
            </a:r>
            <a:r>
              <a:rPr sz="1600" dirty="0" err="1"/>
              <a:t>Itô</a:t>
            </a:r>
            <a:r>
              <a:rPr sz="1600" dirty="0"/>
              <a:t> to V(</a:t>
            </a:r>
            <a:r>
              <a:rPr sz="1600" dirty="0" err="1"/>
              <a:t>S,t</a:t>
            </a:r>
            <a:r>
              <a:rPr sz="1600" dirty="0"/>
              <a:t>); substitute </a:t>
            </a:r>
            <a:r>
              <a:rPr sz="1600" dirty="0" err="1"/>
              <a:t>dS</a:t>
            </a:r>
            <a:r>
              <a:rPr sz="1600" dirty="0"/>
              <a:t> = </a:t>
            </a:r>
            <a:r>
              <a:rPr sz="1600" dirty="0" err="1"/>
              <a:t>μSdt</a:t>
            </a:r>
            <a:r>
              <a:rPr sz="1600" dirty="0"/>
              <a:t> + </a:t>
            </a:r>
            <a:r>
              <a:rPr sz="1600" dirty="0" err="1"/>
              <a:t>σSdW</a:t>
            </a:r>
            <a:r>
              <a:rPr sz="1600" dirty="0"/>
              <a:t>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rPr sz="1600" dirty="0"/>
              <a:t>Choose Δ = V_S ⇒ the random term cancels: </a:t>
            </a:r>
            <a:r>
              <a:rPr sz="1600" dirty="0" err="1"/>
              <a:t>dW</a:t>
            </a:r>
            <a:r>
              <a:rPr sz="1600" dirty="0"/>
              <a:t> disappears.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rPr sz="1600" dirty="0"/>
              <a:t>Crucial: μ cancels too ⇒ option price does NOT depend on expected stock return.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rPr sz="1600" dirty="0"/>
              <a:t>No-arbitrage: riskless Π must earn </a:t>
            </a:r>
            <a:r>
              <a:rPr sz="1600" dirty="0" err="1"/>
              <a:t>r_f</a:t>
            </a:r>
            <a:r>
              <a:rPr sz="1600" dirty="0"/>
              <a:t> ⇒ Black–Scholes PDE.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rPr sz="1600" dirty="0"/>
              <a:t>This is the key Nobel-Prize insight: dynamic replication → risk-neutral pricing.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6B"/>
                </a:solidFill>
                <a:latin typeface="Calibri"/>
              </a:defRPr>
            </a:pPr>
            <a:r>
              <a:t>3. Black–Scholes: Maximum Likelihood Estimation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eq_bs_logli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031026"/>
            <a:ext cx="6911450" cy="1254974"/>
          </a:xfrm>
          <a:prstGeom prst="rect">
            <a:avLst/>
          </a:prstGeom>
        </p:spPr>
      </p:pic>
      <p:pic>
        <p:nvPicPr>
          <p:cNvPr id="6" name="Picture 5" descr="eq_bs_mle_sol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321458"/>
            <a:ext cx="6126480" cy="117424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270464" y="2489482"/>
            <a:ext cx="4488917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rPr sz="1700" dirty="0"/>
              <a:t>MLE on n daily NIFTY returns. Closed-form for σ̂² and μ̂ exists for GBM.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rPr sz="1700" dirty="0"/>
              <a:t>We use numerical </a:t>
            </a:r>
            <a:r>
              <a:rPr sz="1700" dirty="0" err="1"/>
              <a:t>optimisation</a:t>
            </a:r>
            <a:r>
              <a:rPr sz="1700" dirty="0"/>
              <a:t> (</a:t>
            </a:r>
            <a:r>
              <a:rPr sz="1700" dirty="0" err="1"/>
              <a:t>Nelder</a:t>
            </a:r>
            <a:r>
              <a:rPr sz="1700" dirty="0"/>
              <a:t>-Mead) for consistency with MJD estimation.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rPr sz="1700" dirty="0"/>
              <a:t>The key output for option pricing is σ̂ ≈ 17.8% (</a:t>
            </a:r>
            <a:r>
              <a:rPr sz="1700" dirty="0" err="1"/>
              <a:t>annualised</a:t>
            </a:r>
            <a:r>
              <a:rPr sz="1700" dirty="0"/>
              <a:t>).</a:t>
            </a:r>
          </a:p>
        </p:txBody>
      </p:sp>
      <p:pic>
        <p:nvPicPr>
          <p:cNvPr id="8" name="Picture 7" descr="eq_bs_riskneutr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608116"/>
            <a:ext cx="5486400" cy="77203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3680" y="4243603"/>
            <a:ext cx="5175701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rPr sz="1700" dirty="0"/>
              <a:t>For pricing: switch to risk-neutral measure Q. Drift becomes </a:t>
            </a:r>
            <a:r>
              <a:rPr sz="1700" dirty="0" err="1"/>
              <a:t>r_f</a:t>
            </a:r>
            <a:r>
              <a:rPr sz="1700" dirty="0"/>
              <a:t>, but σ stays the same.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6B"/>
                </a:solidFill>
                <a:latin typeface="Calibri"/>
              </a:defRPr>
            </a:pPr>
            <a:r>
              <a:t>3.1 MLE for Discretely Sampled SDEs (Why it is hard)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eq_disc_logli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5486400" cy="135722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1097280"/>
            <a:ext cx="5577840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rPr sz="1700" dirty="0"/>
              <a:t>Discrete data: X_{</a:t>
            </a:r>
            <a:r>
              <a:rPr sz="1700" dirty="0" err="1"/>
              <a:t>t_i</a:t>
            </a:r>
            <a:r>
              <a:rPr sz="1700" dirty="0"/>
              <a:t>} observed at fixed Δ (e.g., daily).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rPr sz="1700" dirty="0"/>
              <a:t>Exact MLE needs the transition density p(Δ, </a:t>
            </a:r>
            <a:r>
              <a:rPr sz="1700" dirty="0" err="1"/>
              <a:t>x_i</a:t>
            </a:r>
            <a:r>
              <a:rPr sz="1700" dirty="0"/>
              <a:t> | x_{i−1}; θ).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rPr sz="1700" dirty="0"/>
              <a:t>For most nonlinear SDEs this density is NOT available in closed form.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11247120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Calibri"/>
              </a:defRPr>
            </a:pPr>
            <a:r>
              <a:rPr sz="1700" dirty="0" err="1"/>
              <a:t>Aït-Sahalia’s</a:t>
            </a:r>
            <a:r>
              <a:rPr sz="1700" dirty="0"/>
              <a:t> key statement (</a:t>
            </a:r>
            <a:r>
              <a:rPr sz="1700" dirty="0" err="1"/>
              <a:t>Econometrica</a:t>
            </a:r>
            <a:r>
              <a:rPr sz="1700" dirty="0"/>
              <a:t>): for discretely sampled diffusions,</a:t>
            </a:r>
          </a:p>
          <a:p>
            <a:pPr>
              <a:defRPr sz="1400">
                <a:solidFill>
                  <a:srgbClr val="333333"/>
                </a:solidFill>
                <a:latin typeface="Calibri"/>
              </a:defRPr>
            </a:pPr>
            <a:r>
              <a:rPr sz="1700" dirty="0"/>
              <a:t>“the transition distribution and hence the likelihood … is not explicitly computable” in most cases,</a:t>
            </a:r>
          </a:p>
          <a:p>
            <a:pPr>
              <a:defRPr sz="1400">
                <a:solidFill>
                  <a:srgbClr val="333333"/>
                </a:solidFill>
                <a:latin typeface="Calibri"/>
              </a:defRPr>
            </a:pPr>
            <a:r>
              <a:rPr sz="1700" dirty="0"/>
              <a:t>so he constructs a convergent closed-form approximation using Hermite polynomials. [AS02]</a:t>
            </a:r>
          </a:p>
        </p:txBody>
      </p:sp>
      <p:pic>
        <p:nvPicPr>
          <p:cNvPr id="8" name="Picture 7" descr="eq_as_herm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703320"/>
            <a:ext cx="10241280" cy="7440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4663440"/>
            <a:ext cx="1124712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44444"/>
                </a:solidFill>
                <a:latin typeface="Calibri"/>
              </a:defRPr>
            </a:pPr>
            <a:r>
              <a:rPr sz="1700" dirty="0" err="1"/>
              <a:t>Iacus</a:t>
            </a:r>
            <a:r>
              <a:rPr sz="1700" dirty="0"/>
              <a:t> (Springer book) formalizes the “fixed-Δ” scheme and emphasizes that with discrete-time observations</a:t>
            </a:r>
          </a:p>
          <a:p>
            <a:pPr>
              <a:defRPr sz="1300">
                <a:solidFill>
                  <a:srgbClr val="444444"/>
                </a:solidFill>
                <a:latin typeface="Calibri"/>
              </a:defRPr>
            </a:pPr>
            <a:r>
              <a:rPr sz="1700" dirty="0"/>
              <a:t>the likelihood is “almost always unavailable in explicit form,” motivating pseudo/approximated likelihoods. [Iac08]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6B"/>
                </a:solidFill>
                <a:latin typeface="Calibri"/>
              </a:defRPr>
            </a:pPr>
            <a:r>
              <a:t>3. Black–Scholes: Closed-Form Option Prices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eq_bs_c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693" y="1193317"/>
            <a:ext cx="5209919" cy="827633"/>
          </a:xfrm>
          <a:prstGeom prst="rect">
            <a:avLst/>
          </a:prstGeom>
        </p:spPr>
      </p:pic>
      <p:pic>
        <p:nvPicPr>
          <p:cNvPr id="6" name="Picture 5" descr="eq_bs_d1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139696"/>
            <a:ext cx="6045856" cy="926962"/>
          </a:xfrm>
          <a:prstGeom prst="rect">
            <a:avLst/>
          </a:prstGeom>
        </p:spPr>
      </p:pic>
      <p:pic>
        <p:nvPicPr>
          <p:cNvPr id="7" name="Picture 6" descr="eq_bs_m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588" y="2869534"/>
            <a:ext cx="5943600" cy="13858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40763" y="1229969"/>
            <a:ext cx="4241637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rPr sz="1700" dirty="0"/>
              <a:t>The celebrated BS formula gives exact European call (and put via put-call parity).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rPr sz="1700" dirty="0"/>
              <a:t>d₁ and d₂ encode moneyness, time to expiry, and volatility.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rPr sz="1700" dirty="0"/>
              <a:t>Monte Carlo estimator validates the closed-form: simulate N paths under Q, average discounted payoffs.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rPr sz="1700" dirty="0"/>
              <a:t>SE shrinks as 1/√N (CLT). [</a:t>
            </a:r>
            <a:r>
              <a:rPr sz="1700" dirty="0" err="1"/>
              <a:t>Glasserman</a:t>
            </a:r>
            <a:r>
              <a:rPr sz="1700" dirty="0"/>
              <a:t>, 2003]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572000"/>
            <a:ext cx="10058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AA0000"/>
                </a:solidFill>
                <a:latin typeface="Calibri"/>
              </a:defRPr>
            </a:pPr>
            <a:r>
              <a:rPr sz="1600" dirty="0"/>
              <a:t>Key limitation: σ is CONSTANT across all strikes and maturities → flat implied volatility surface.</a:t>
            </a:r>
          </a:p>
          <a:p>
            <a:pPr>
              <a:defRPr sz="1400">
                <a:solidFill>
                  <a:srgbClr val="AA0000"/>
                </a:solidFill>
                <a:latin typeface="Calibri"/>
              </a:defRPr>
            </a:pPr>
            <a:r>
              <a:rPr sz="1600" dirty="0"/>
              <a:t>→ In reality, NIFTY options trade with a pronounced volatility smile/skew. BS cannot reproduce this.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6B"/>
                </a:solidFill>
                <a:latin typeface="Calibri"/>
              </a:defRPr>
            </a:pPr>
            <a:r>
              <a:t>4. Merton Jump-Diffusion: SDE &amp; Log-Return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eq_mjd_s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88720"/>
            <a:ext cx="6126480" cy="561172"/>
          </a:xfrm>
          <a:prstGeom prst="rect">
            <a:avLst/>
          </a:prstGeom>
        </p:spPr>
      </p:pic>
      <p:pic>
        <p:nvPicPr>
          <p:cNvPr id="6" name="Picture 5" descr="eq_mjd_jum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194560"/>
            <a:ext cx="6126480" cy="793617"/>
          </a:xfrm>
          <a:prstGeom prst="rect">
            <a:avLst/>
          </a:prstGeom>
        </p:spPr>
      </p:pic>
      <p:pic>
        <p:nvPicPr>
          <p:cNvPr id="7" name="Picture 6" descr="eq_mjd_it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200400"/>
            <a:ext cx="6126480" cy="837952"/>
          </a:xfrm>
          <a:prstGeom prst="rect">
            <a:avLst/>
          </a:prstGeom>
        </p:spPr>
      </p:pic>
      <p:pic>
        <p:nvPicPr>
          <p:cNvPr id="8" name="Picture 7" descr="eq_mjd_condition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297680"/>
            <a:ext cx="6309360" cy="7577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949440" y="1371600"/>
            <a:ext cx="4937760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rPr sz="1700" dirty="0"/>
              <a:t>Superimposes compound Poisson jumps on GBM — captures sudden dislocations.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rPr sz="1700" dirty="0" err="1"/>
              <a:t>Itô</a:t>
            </a:r>
            <a:r>
              <a:rPr sz="1700" dirty="0"/>
              <a:t> for jump-diffusions: extra J </a:t>
            </a:r>
            <a:r>
              <a:rPr sz="1700" dirty="0" err="1"/>
              <a:t>dN</a:t>
            </a:r>
            <a:r>
              <a:rPr sz="1700" dirty="0"/>
              <a:t>(t) term in log-price.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rPr sz="1700" dirty="0"/>
              <a:t>Conditional on k jumps: Gaussian with shifted mean &amp; inflated variance.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rPr sz="1700" dirty="0"/>
              <a:t>This directly explains why MJD produces different option prices from BS.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rPr sz="1700" dirty="0"/>
              <a:t>[Me76] Merton (1976), [CT04] </a:t>
            </a:r>
            <a:r>
              <a:rPr sz="1700" dirty="0" err="1"/>
              <a:t>Cont</a:t>
            </a:r>
            <a:r>
              <a:rPr sz="1700" dirty="0"/>
              <a:t> &amp; </a:t>
            </a:r>
            <a:r>
              <a:rPr sz="1700" dirty="0" err="1"/>
              <a:t>Tankov</a:t>
            </a:r>
            <a:r>
              <a:rPr sz="1700" dirty="0"/>
              <a:t> (2004).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6B"/>
                </a:solidFill>
                <a:latin typeface="Calibri"/>
              </a:defRPr>
            </a:pPr>
            <a:r>
              <a:t>4. Merton JD Option Pricing: Risk-Neutral Compensator &amp; Series (Proof)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eq_mjd_kap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0"/>
            <a:ext cx="5303520" cy="961178"/>
          </a:xfrm>
          <a:prstGeom prst="rect">
            <a:avLst/>
          </a:prstGeom>
        </p:spPr>
      </p:pic>
      <p:pic>
        <p:nvPicPr>
          <p:cNvPr id="6" name="Picture 5" descr="eq_mjd_riskneutral_s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" y="1966573"/>
            <a:ext cx="10789920" cy="912138"/>
          </a:xfrm>
          <a:prstGeom prst="rect">
            <a:avLst/>
          </a:prstGeom>
        </p:spPr>
      </p:pic>
      <p:pic>
        <p:nvPicPr>
          <p:cNvPr id="7" name="Picture 6" descr="eq_mjd_rk_sig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560" y="2805358"/>
            <a:ext cx="8244349" cy="1258209"/>
          </a:xfrm>
          <a:prstGeom prst="rect">
            <a:avLst/>
          </a:prstGeom>
        </p:spPr>
      </p:pic>
      <p:pic>
        <p:nvPicPr>
          <p:cNvPr id="8" name="Picture 7" descr="eq_mjd_seri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951879"/>
            <a:ext cx="6849151" cy="150021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8680" y="5452094"/>
            <a:ext cx="10241280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44444"/>
                </a:solidFill>
                <a:latin typeface="Calibri"/>
              </a:defRPr>
            </a:pPr>
            <a:r>
              <a:rPr sz="1700" dirty="0"/>
              <a:t>Key arbitrage constraint: under Q, total expected growth (diffusion + expected jumps) must equal </a:t>
            </a:r>
            <a:r>
              <a:rPr sz="1700" dirty="0" err="1"/>
              <a:t>r_f</a:t>
            </a:r>
            <a:r>
              <a:rPr sz="1700" dirty="0"/>
              <a:t>.</a:t>
            </a:r>
          </a:p>
          <a:p>
            <a:pPr>
              <a:defRPr sz="1300">
                <a:solidFill>
                  <a:srgbClr val="444444"/>
                </a:solidFill>
                <a:latin typeface="Calibri"/>
              </a:defRPr>
            </a:pPr>
            <a:r>
              <a:rPr sz="1700" dirty="0"/>
              <a:t>Hence drift becomes (</a:t>
            </a:r>
            <a:r>
              <a:rPr sz="1700" dirty="0" err="1"/>
              <a:t>r_f</a:t>
            </a:r>
            <a:r>
              <a:rPr sz="1700" dirty="0"/>
              <a:t> − </a:t>
            </a:r>
            <a:r>
              <a:rPr sz="1700" dirty="0" err="1"/>
              <a:t>λκ</a:t>
            </a:r>
            <a:r>
              <a:rPr sz="1700" dirty="0"/>
              <a:t>). Conditional on k jumps, the terminal log-price is Gaussian ⇒ BS formula with modified (</a:t>
            </a:r>
            <a:r>
              <a:rPr sz="1700" dirty="0" err="1"/>
              <a:t>r_k</a:t>
            </a:r>
            <a:r>
              <a:rPr sz="1700" dirty="0"/>
              <a:t>, </a:t>
            </a:r>
            <a:r>
              <a:rPr sz="1700" dirty="0" err="1"/>
              <a:t>σ_k</a:t>
            </a:r>
            <a:r>
              <a:rPr sz="1700" dirty="0"/>
              <a:t>).</a:t>
            </a:r>
          </a:p>
          <a:p>
            <a:pPr>
              <a:defRPr sz="1300">
                <a:solidFill>
                  <a:srgbClr val="444444"/>
                </a:solidFill>
                <a:latin typeface="Calibri"/>
              </a:defRPr>
            </a:pPr>
            <a:r>
              <a:rPr sz="1700" dirty="0"/>
              <a:t>Final price is a Poisson-weighted average of BS prices across k. [Me76]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6B"/>
                </a:solidFill>
                <a:latin typeface="Calibri"/>
              </a:defRPr>
            </a:pPr>
            <a:r>
              <a:t>4.2 Why truncating the infinite series is safe (Visualization)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15_merton_series_trun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4203" y="869203"/>
            <a:ext cx="8708829" cy="55663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5073" y="6435519"/>
            <a:ext cx="11686622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44444"/>
                </a:solidFill>
                <a:latin typeface="Calibri"/>
              </a:defRPr>
            </a:pPr>
            <a:r>
              <a:rPr dirty="0"/>
              <a:t>Poisson weights decay super-fast due to k! in the denominator ⇒ tail mass after k≈20 is negligible; price stabilizes.</a:t>
            </a:r>
          </a:p>
          <a:p>
            <a:pPr>
              <a:defRPr sz="1300">
                <a:solidFill>
                  <a:srgbClr val="444444"/>
                </a:solidFill>
                <a:latin typeface="Calibri"/>
              </a:defRPr>
            </a:pPr>
            <a:r>
              <a:rPr dirty="0"/>
              <a:t>This justifies truncating the Merton series in numerical implementations.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6B"/>
                </a:solidFill>
                <a:latin typeface="Calibri"/>
              </a:defRPr>
            </a:pPr>
            <a:r>
              <a:t>4.1 MLE in Practice: Exact vs Pseudo/Approximated Likelihood (Iacus)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  <a:r>
              <a:t>Iacus (2008) classifies estimation under discrete observations into:</a:t>
            </a:r>
          </a:p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  <a:r>
              <a:t>• Exact likelihood inference (when transition density is known, e.g., GBM/BS)</a:t>
            </a:r>
          </a:p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  <a:r>
              <a:t>• Pseudo-likelihood methods (e.g., Euler Gaussian approximation)</a:t>
            </a:r>
          </a:p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  <a:r>
              <a:t>• Approximated likelihood methods (Kessler, simulated likelihood, Hermite expansion)</a:t>
            </a:r>
          </a:p>
        </p:txBody>
      </p:sp>
      <p:pic>
        <p:nvPicPr>
          <p:cNvPr id="6" name="Picture 5" descr="eq_euler_pseudoli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812" y="2011680"/>
            <a:ext cx="8920808" cy="96617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3291840"/>
            <a:ext cx="11155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44444"/>
                </a:solidFill>
                <a:latin typeface="Calibri"/>
              </a:defRPr>
            </a:pPr>
            <a:r>
              <a:t>Euler pseudo-likelihood uses the local Gaussian approximation over Δ:</a:t>
            </a:r>
          </a:p>
          <a:p>
            <a:pPr>
              <a:defRPr sz="1400">
                <a:solidFill>
                  <a:srgbClr val="444444"/>
                </a:solidFill>
                <a:latin typeface="Calibri"/>
              </a:defRPr>
            </a:pPr>
            <a:r>
              <a:t>this is the baseline idea behind many feasible estimators when p(Δ,·|·;θ) is unknown.</a:t>
            </a:r>
          </a:p>
          <a:p>
            <a:pPr>
              <a:defRPr sz="1400">
                <a:solidFill>
                  <a:srgbClr val="444444"/>
                </a:solidFill>
                <a:latin typeface="Calibri"/>
              </a:defRPr>
            </a:pPr>
            <a:endParaRPr/>
          </a:p>
          <a:p>
            <a:pPr>
              <a:defRPr sz="1400">
                <a:solidFill>
                  <a:srgbClr val="444444"/>
                </a:solidFill>
                <a:latin typeface="Calibri"/>
              </a:defRPr>
            </a:pPr>
            <a:r>
              <a:t>In our project:</a:t>
            </a:r>
          </a:p>
          <a:p>
            <a:pPr>
              <a:defRPr sz="1400">
                <a:solidFill>
                  <a:srgbClr val="444444"/>
                </a:solidFill>
                <a:latin typeface="Calibri"/>
              </a:defRPr>
            </a:pPr>
            <a:r>
              <a:t>• BS/GBM has an explicit Gaussian transition for log-returns ⇒ exact MLE is easy.</a:t>
            </a:r>
          </a:p>
          <a:p>
            <a:pPr>
              <a:defRPr sz="1400">
                <a:solidFill>
                  <a:srgbClr val="444444"/>
                </a:solidFill>
                <a:latin typeface="Calibri"/>
              </a:defRPr>
            </a:pPr>
            <a:r>
              <a:t>• MJD has a Poisson–Gaussian mixture transition ⇒ we maximize a (truncated) mixture log-likelihood numerically.</a:t>
            </a:r>
          </a:p>
          <a:p>
            <a:pPr>
              <a:defRPr sz="1400">
                <a:solidFill>
                  <a:srgbClr val="444444"/>
                </a:solidFill>
                <a:latin typeface="Calibri"/>
              </a:defRPr>
            </a:pPr>
            <a:endParaRPr/>
          </a:p>
          <a:p>
            <a:pPr>
              <a:defRPr sz="1400">
                <a:solidFill>
                  <a:srgbClr val="444444"/>
                </a:solidFill>
                <a:latin typeface="Calibri"/>
              </a:defRPr>
            </a:pPr>
            <a:r>
              <a:t>Reference: Iacus (2008), Chapter 3 (Parametric Estimation). [Iac08]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6B"/>
                </a:solidFill>
                <a:latin typeface="Calibri"/>
              </a:defRPr>
            </a:pPr>
            <a:r>
              <a:t>4. MJD: Likelihood &amp; Excess Kurtosis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eq_mjd_den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6309360" cy="1063626"/>
          </a:xfrm>
          <a:prstGeom prst="rect">
            <a:avLst/>
          </a:prstGeom>
        </p:spPr>
      </p:pic>
      <p:pic>
        <p:nvPicPr>
          <p:cNvPr id="6" name="Picture 5" descr="eq_mjd_logli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886" y="2209927"/>
            <a:ext cx="6004559" cy="1294852"/>
          </a:xfrm>
          <a:prstGeom prst="rect">
            <a:avLst/>
          </a:prstGeom>
        </p:spPr>
      </p:pic>
      <p:pic>
        <p:nvPicPr>
          <p:cNvPr id="7" name="Picture 6" descr="eq_mjd_vari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482" y="3529630"/>
            <a:ext cx="5957365" cy="904916"/>
          </a:xfrm>
          <a:prstGeom prst="rect">
            <a:avLst/>
          </a:prstGeom>
        </p:spPr>
      </p:pic>
      <p:pic>
        <p:nvPicPr>
          <p:cNvPr id="8" name="Picture 7" descr="eq_mjd_kurtosi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434546"/>
            <a:ext cx="5669280" cy="14714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062511" y="2029968"/>
            <a:ext cx="4937760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rPr sz="1700" dirty="0"/>
              <a:t>Log-likelihood = sum of log Gaussian-mixture densities.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rPr sz="1700" dirty="0" err="1"/>
              <a:t>Maximised</a:t>
            </a:r>
            <a:r>
              <a:rPr sz="1700" dirty="0"/>
              <a:t> numerically (L-BFGS-B) over θ = (</a:t>
            </a:r>
            <a:r>
              <a:rPr sz="1700" dirty="0" err="1"/>
              <a:t>μ,σ,λ,μ_J,σ_J</a:t>
            </a:r>
            <a:r>
              <a:rPr sz="1700" dirty="0"/>
              <a:t>).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rPr sz="1700" dirty="0"/>
              <a:t>Variance decomposition: jump component λ(μ_J²+σ_J²) adds kurtosis.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rPr sz="1700" dirty="0"/>
              <a:t>Excess kurtosis &gt; 0 → fatter tails → higher OTM option prices.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rPr sz="1700" dirty="0"/>
              <a:t>This is the precise mechanism by which MJD prices puts higher than BS.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6B"/>
                </a:solidFill>
                <a:latin typeface="Calibri"/>
              </a:defRPr>
            </a:pPr>
            <a:r>
              <a:t>5. ATM Option Prices: BS vs MJD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02_atm_option_pr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361307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001610"/>
            <a:ext cx="10811551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44444"/>
                </a:solidFill>
                <a:latin typeface="Calibri"/>
              </a:defRPr>
            </a:pPr>
            <a:r>
              <a:rPr dirty="0"/>
              <a:t>Left: ATM call &amp; put prices. Centre: terminal S(T) distributions — MJD has heavier tails.</a:t>
            </a:r>
          </a:p>
          <a:p>
            <a:pPr>
              <a:defRPr sz="1300">
                <a:solidFill>
                  <a:srgbClr val="444444"/>
                </a:solidFill>
                <a:latin typeface="Calibri"/>
              </a:defRPr>
            </a:pPr>
            <a:r>
              <a:rPr dirty="0"/>
              <a:t>Right: put payoff distribution — MJD assigns more weight to large payoffs (crash scenarios).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6B"/>
                </a:solidFill>
                <a:latin typeface="Calibri"/>
              </a:defRPr>
            </a:pPr>
            <a:r>
              <a:t>5. Option Prices Across Strikes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03_option_prices_across_strik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7146" y="700869"/>
            <a:ext cx="7552158" cy="578490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71358"/>
            <a:ext cx="10515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44444"/>
                </a:solidFill>
                <a:latin typeface="Calibri"/>
              </a:defRPr>
            </a:pPr>
            <a:r>
              <a:rPr sz="1100" dirty="0"/>
              <a:t>MJD puts are consistently more expensive than BS puts, especially for OTM puts (K/S₀ &lt; 1).</a:t>
            </a:r>
          </a:p>
          <a:p>
            <a:pPr>
              <a:defRPr sz="1300">
                <a:solidFill>
                  <a:srgbClr val="444444"/>
                </a:solidFill>
                <a:latin typeface="Calibri"/>
              </a:defRPr>
            </a:pPr>
            <a:r>
              <a:rPr sz="1100" dirty="0"/>
              <a:t>Bottom-right: percentage difference shows BS can underprice OTM puts by 20-100%+.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6B"/>
                </a:solidFill>
                <a:latin typeface="Calibri"/>
              </a:defRPr>
            </a:pPr>
            <a:r>
              <a:t>5. Implied Volatility Smile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04_iv_sm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880" y="1097280"/>
            <a:ext cx="9942379" cy="490401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" y="6091237"/>
            <a:ext cx="11096687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44444"/>
                </a:solidFill>
                <a:latin typeface="Calibri"/>
              </a:defRPr>
            </a:pPr>
            <a:r>
              <a:rPr dirty="0"/>
              <a:t>BS-implied volatility backed out from MJD option prices. MJD produces the smile that market data shows.</a:t>
            </a:r>
          </a:p>
          <a:p>
            <a:pPr>
              <a:defRPr sz="1300">
                <a:solidFill>
                  <a:srgbClr val="444444"/>
                </a:solidFill>
                <a:latin typeface="Calibri"/>
              </a:defRPr>
            </a:pPr>
            <a:r>
              <a:rPr dirty="0"/>
              <a:t>BS can only produce a flat line — the "smile inconsistency" [Rubinstein, 1994].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6B"/>
                </a:solidFill>
                <a:latin typeface="Calibri"/>
              </a:defRPr>
            </a:pPr>
            <a:r>
              <a:t>5. OTM Put Pricing — Where BS Fails Most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06_otm_put_pric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091237"/>
            <a:ext cx="109728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44444"/>
                </a:solidFill>
                <a:latin typeface="Calibri"/>
              </a:defRPr>
            </a:pPr>
            <a:r>
              <a:rPr dirty="0"/>
              <a:t>Deep OTM puts: MJD price can be 2–5× the BS price. This is crash protection that BS undervalues.</a:t>
            </a:r>
          </a:p>
          <a:p>
            <a:pPr>
              <a:defRPr sz="1300">
                <a:solidFill>
                  <a:srgbClr val="444444"/>
                </a:solidFill>
                <a:latin typeface="Calibri"/>
              </a:defRPr>
            </a:pPr>
            <a:r>
              <a:rPr dirty="0"/>
              <a:t>For a NIFTY options trader, using BS means systematically selling insurance too cheaply.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6B"/>
                </a:solidFill>
                <a:latin typeface="Calibri"/>
              </a:defRPr>
            </a:pPr>
            <a:r>
              <a:t>5. Option Prices Across Maturities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05_option_term_stru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438727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5323" y="5919849"/>
            <a:ext cx="10841048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44444"/>
                </a:solidFill>
                <a:latin typeface="Calibri"/>
              </a:defRPr>
            </a:pPr>
            <a:r>
              <a:rPr dirty="0"/>
              <a:t>MJD puts are consistently more expensive than BS across all maturities — the jump risk premium persists.</a:t>
            </a:r>
          </a:p>
          <a:p>
            <a:pPr>
              <a:defRPr sz="1300">
                <a:solidFill>
                  <a:srgbClr val="444444"/>
                </a:solidFill>
                <a:latin typeface="Calibri"/>
              </a:defRPr>
            </a:pPr>
            <a:r>
              <a:rPr dirty="0"/>
              <a:t>Difference is largest for shorter maturities where individual jumps have more impact.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6B"/>
                </a:solidFill>
                <a:latin typeface="Calibri"/>
              </a:defRPr>
            </a:pPr>
            <a:r>
              <a:t>5. Option Price Sensitivity to Jump Parameters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07_option_sensitivity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519456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" y="6438150"/>
            <a:ext cx="111861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44444"/>
                </a:solidFill>
                <a:latin typeface="Calibri"/>
              </a:defRPr>
            </a:pPr>
            <a:r>
              <a:rPr dirty="0"/>
              <a:t>Non-linear interaction between λ and </a:t>
            </a:r>
            <a:r>
              <a:rPr dirty="0" err="1"/>
              <a:t>σ_J</a:t>
            </a:r>
            <a:r>
              <a:rPr dirty="0"/>
              <a:t> on option prices. Higher jump intensity and vol → higher option prices.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6B"/>
                </a:solidFill>
                <a:latin typeface="Calibri"/>
              </a:defRPr>
            </a:pPr>
            <a:r>
              <a:t>5. Monte Carlo Convergence (Option Prices)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08_mc_convergence_op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2693" y="6091237"/>
            <a:ext cx="1128349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44444"/>
                </a:solidFill>
                <a:latin typeface="Calibri"/>
              </a:defRPr>
            </a:pPr>
            <a:r>
              <a:rPr dirty="0"/>
              <a:t>BS MC converges to closed-form; MJD converges to its own value. SE ∝ 1/√N confirmed.</a:t>
            </a:r>
          </a:p>
          <a:p>
            <a:pPr>
              <a:defRPr sz="1300">
                <a:solidFill>
                  <a:srgbClr val="444444"/>
                </a:solidFill>
                <a:latin typeface="Calibri"/>
              </a:defRPr>
            </a:pPr>
            <a:r>
              <a:rPr dirty="0"/>
              <a:t>Validates both implementations and the theoretical pricing framework [</a:t>
            </a:r>
            <a:r>
              <a:rPr dirty="0" err="1"/>
              <a:t>Glasserman</a:t>
            </a:r>
            <a:r>
              <a:rPr dirty="0"/>
              <a:t>, 2003].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6B"/>
                </a:solidFill>
                <a:latin typeface="Calibri"/>
              </a:defRPr>
            </a:pPr>
            <a:r>
              <a:t>5. Option Pricing at Indian Market Crises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11_event_option_pric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516876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37486"/>
            <a:ext cx="1106719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44444"/>
                </a:solidFill>
                <a:latin typeface="Calibri"/>
              </a:defRPr>
            </a:pPr>
            <a:r>
              <a:rPr dirty="0"/>
              <a:t>At each crisis: BS put price vs MJD put price vs </a:t>
            </a:r>
            <a:r>
              <a:rPr dirty="0" err="1"/>
              <a:t>realised</a:t>
            </a:r>
            <a:r>
              <a:rPr dirty="0"/>
              <a:t> payoff. BS consistently underprices — positive error = underpricing.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6B"/>
                </a:solidFill>
                <a:latin typeface="Calibri"/>
              </a:defRPr>
            </a:pPr>
            <a:r>
              <a:t>5. Variance Reduction for Option Pricing MC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09_variance_reduction_op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9858" y="1024128"/>
            <a:ext cx="7713406" cy="45778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0178" y="5767864"/>
            <a:ext cx="1138182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rPr dirty="0"/>
              <a:t>Antithetic variates and control variates reduce MC standard error for option prices.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rPr dirty="0"/>
              <a:t>Control variate (using BS closed-form as control for MJD MC) gives ~50% SE reduction.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rPr dirty="0"/>
              <a:t>[</a:t>
            </a:r>
            <a:r>
              <a:rPr dirty="0" err="1"/>
              <a:t>Glasserman</a:t>
            </a:r>
            <a:r>
              <a:rPr dirty="0"/>
              <a:t>, 2003].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6B"/>
                </a:solidFill>
                <a:latin typeface="Calibri"/>
              </a:defRPr>
            </a:pPr>
            <a:r>
              <a:t>6. Statistical Model Selection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10_model_sel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3492500"/>
          </a:xfrm>
          <a:prstGeom prst="rect">
            <a:avLst/>
          </a:prstGeom>
        </p:spPr>
      </p:pic>
      <p:pic>
        <p:nvPicPr>
          <p:cNvPr id="6" name="Picture 5" descr="eq_l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029200"/>
            <a:ext cx="5486400" cy="581891"/>
          </a:xfrm>
          <a:prstGeom prst="rect">
            <a:avLst/>
          </a:prstGeom>
        </p:spPr>
      </p:pic>
      <p:pic>
        <p:nvPicPr>
          <p:cNvPr id="7" name="Picture 6" descr="eq_aic_bi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5029200"/>
            <a:ext cx="5029200" cy="5961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943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44444"/>
                </a:solidFill>
                <a:latin typeface="Calibri"/>
              </a:defRPr>
            </a:pPr>
            <a:r>
              <a:rPr dirty="0"/>
              <a:t>LRT p-value ≈ 0 → jumps are overwhelmingly significant. AIC &amp; BIC both prefer MJD despite penalty for 3 extra parameters.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6B"/>
                </a:solidFill>
                <a:latin typeface="Calibri"/>
              </a:defRPr>
            </a:pPr>
            <a:r>
              <a:t>Underlying Paths: How Jumps Affect S(T)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12_gbm_vs_mjd_path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438727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978843"/>
            <a:ext cx="11598132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44444"/>
                </a:solidFill>
                <a:latin typeface="Calibri"/>
              </a:defRPr>
            </a:pPr>
            <a:r>
              <a:rPr dirty="0"/>
              <a:t>GBM paths are smooth; MJD paths have jumps (red dots). Jump events change the terminal distribution S(T),</a:t>
            </a:r>
          </a:p>
          <a:p>
            <a:pPr>
              <a:defRPr sz="1300">
                <a:solidFill>
                  <a:srgbClr val="444444"/>
                </a:solidFill>
                <a:latin typeface="Calibri"/>
              </a:defRPr>
            </a:pPr>
            <a:r>
              <a:rPr dirty="0"/>
              <a:t>which is what determines option payoffs max(S(T)−K, 0) or max(K−S(T), 0).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6B"/>
                </a:solidFill>
                <a:latin typeface="Calibri"/>
              </a:defRPr>
            </a:pPr>
            <a:r>
              <a:t>Return Diagnostics (Motivation for MJD)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13_qq_pl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48230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4864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44444"/>
                </a:solidFill>
                <a:latin typeface="Calibri"/>
              </a:defRPr>
            </a:pPr>
            <a:r>
              <a:t>QQ vs Normal: heavy-tailed departures → BS option mispricing. QQ vs MJD: better tail fit.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6B"/>
                </a:solidFill>
                <a:latin typeface="Calibri"/>
              </a:defRPr>
            </a:pPr>
            <a:r>
              <a:t>Summary: BS vs MJD Option Pricing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14_summary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385" y="951271"/>
            <a:ext cx="9601200" cy="5500239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6B"/>
                </a:solidFill>
                <a:latin typeface="Calibri"/>
              </a:defRPr>
            </a:pPr>
            <a:r>
              <a:t>Model Comparison for Option Pricing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Black-Scholes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Merton JD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Underlying SDE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GBM (continuous)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GBM + Poisson jumps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Parameters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 (μ, σ)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 (μ, σ, λ, μ_J, σ_J)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Return distribution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Gaussian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Gaussian mixture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Option pricing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Closed-form (BS formula)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Monte Carlo required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Implied volatility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Flat (constant σ)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Smile / skew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OTM put pricing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Systematically low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More realistic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Captures crashes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Yes (jump component)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Calibration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Analytic MLE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Numerical MLE (L-BFGS-B)</a:t>
                      </a:r>
                    </a:p>
                  </a:txBody>
                  <a:tcPr>
                    <a:solidFill>
                      <a:srgbClr val="E8EC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6B"/>
                </a:solidFill>
                <a:latin typeface="Calibri"/>
              </a:defRPr>
            </a:pPr>
            <a:r>
              <a:t>7. Future Work &amp; Connection to Supervisor Research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  <a:r>
              <a:rPr dirty="0"/>
              <a:t>End-term: extend option pricing comparison to stochastic volatility models:</a:t>
            </a:r>
          </a:p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  <a:endParaRPr dirty="0"/>
          </a:p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  <a:r>
              <a:rPr dirty="0"/>
              <a:t>  • Heston (1993): variance v(t) follows CIR process → produces full IV surface</a:t>
            </a:r>
          </a:p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  <a:r>
              <a:rPr dirty="0"/>
              <a:t>  • Bates (1996): Heston + jumps → 8 parameters, most flexible model</a:t>
            </a:r>
          </a:p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  <a:r>
              <a:rPr dirty="0"/>
              <a:t>  • Calibrate to live NIFTY option chain prices (not just returns)</a:t>
            </a:r>
          </a:p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  <a:endParaRPr dirty="0"/>
          </a:p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  <a:r>
              <a:rPr dirty="0"/>
              <a:t>Numerical challenge: CIR process has non-Lipschitz √v(t) coefficient</a:t>
            </a:r>
          </a:p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  <a:r>
              <a:rPr dirty="0"/>
              <a:t>  → Standard Euler-Maruyama </a:t>
            </a:r>
            <a:r>
              <a:rPr lang="en-GB" dirty="0"/>
              <a:t>and Milstein Schemes will blow up, need to use tamed Milstein Schemes. </a:t>
            </a:r>
            <a:endParaRPr dirty="0"/>
          </a:p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  <a:endParaRPr dirty="0"/>
          </a:p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  <a:r>
              <a:rPr dirty="0"/>
              <a:t>Prof. Chaman Kumar's research directly addresses this:</a:t>
            </a:r>
          </a:p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  <a:r>
              <a:rPr dirty="0"/>
              <a:t>  • Tamed Euler for Lévy SDEs [DKS16, SIAM J. </a:t>
            </a:r>
            <a:r>
              <a:rPr dirty="0" err="1"/>
              <a:t>Numer</a:t>
            </a:r>
            <a:r>
              <a:rPr dirty="0"/>
              <a:t>. Anal., 54(3)]</a:t>
            </a:r>
          </a:p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  <a:r>
              <a:rPr dirty="0"/>
              <a:t>  • Tamed Milstein for super-linear coefficients [KS17, EJP 22]</a:t>
            </a:r>
          </a:p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  <a:r>
              <a:rPr dirty="0"/>
              <a:t>  • Milstein for Markovian switching [KK20, J. Comp. Appl. Math. 377]</a:t>
            </a:r>
          </a:p>
          <a:p>
            <a:pPr>
              <a:defRPr sz="1500">
                <a:solidFill>
                  <a:srgbClr val="000000"/>
                </a:solidFill>
                <a:latin typeface="Calibri"/>
              </a:defRPr>
            </a:pPr>
            <a:r>
              <a:rPr dirty="0"/>
              <a:t>  • McKean-Vlasov equations [KNRS20] — future scope: mean-field option markets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3A6B"/>
                </a:solidFill>
                <a:latin typeface="Calibri"/>
              </a:defRPr>
            </a:pPr>
            <a:r>
              <a:t>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  <a:latin typeface="Calibri"/>
              </a:defRPr>
            </a:pPr>
            <a:r>
              <a:rPr dirty="0"/>
              <a:t>Option Pricing Models:</a:t>
            </a:r>
          </a:p>
          <a:p>
            <a:pPr>
              <a:defRPr sz="1200">
                <a:solidFill>
                  <a:srgbClr val="000000"/>
                </a:solidFill>
                <a:latin typeface="Calibri"/>
              </a:defRPr>
            </a:pPr>
            <a:r>
              <a:rPr dirty="0"/>
              <a:t>  [BS73] Black &amp; Scholes (1973). J. Political Economy, 81(3), 637–654.</a:t>
            </a:r>
          </a:p>
          <a:p>
            <a:pPr>
              <a:defRPr sz="1200">
                <a:solidFill>
                  <a:srgbClr val="000000"/>
                </a:solidFill>
                <a:latin typeface="Calibri"/>
              </a:defRPr>
            </a:pPr>
            <a:r>
              <a:rPr dirty="0"/>
              <a:t>  [Me76] Merton (1976). J. Financial Economics, 3(1-2), 125–144.</a:t>
            </a:r>
          </a:p>
          <a:p>
            <a:pPr>
              <a:defRPr sz="1200">
                <a:solidFill>
                  <a:srgbClr val="000000"/>
                </a:solidFill>
                <a:latin typeface="Calibri"/>
              </a:defRPr>
            </a:pPr>
            <a:r>
              <a:rPr dirty="0"/>
              <a:t>  [He93] Heston (1993). Review of Financial Studies, 6(2), 327–343.</a:t>
            </a:r>
          </a:p>
          <a:p>
            <a:pPr>
              <a:defRPr sz="1200">
                <a:solidFill>
                  <a:srgbClr val="000000"/>
                </a:solidFill>
                <a:latin typeface="Calibri"/>
              </a:defRPr>
            </a:pPr>
            <a:r>
              <a:rPr dirty="0"/>
              <a:t>  [Ba96] Bates (1996). Review of Financial Studies, 9(1), 69–107.</a:t>
            </a:r>
          </a:p>
          <a:p>
            <a:pPr>
              <a:defRPr sz="1200">
                <a:solidFill>
                  <a:srgbClr val="000000"/>
                </a:solidFill>
                <a:latin typeface="Calibri"/>
              </a:defRPr>
            </a:pPr>
            <a:endParaRPr dirty="0"/>
          </a:p>
          <a:p>
            <a:pPr>
              <a:defRPr sz="1200">
                <a:solidFill>
                  <a:srgbClr val="000000"/>
                </a:solidFill>
                <a:latin typeface="Calibri"/>
              </a:defRPr>
            </a:pPr>
            <a:r>
              <a:rPr dirty="0"/>
              <a:t>Statistical &amp; Computational Methods (MLE for discretely sampled SDEs):</a:t>
            </a:r>
          </a:p>
          <a:p>
            <a:pPr>
              <a:defRPr sz="1200">
                <a:solidFill>
                  <a:srgbClr val="000000"/>
                </a:solidFill>
                <a:latin typeface="Calibri"/>
              </a:defRPr>
            </a:pPr>
            <a:r>
              <a:rPr dirty="0"/>
              <a:t>  [AS02] </a:t>
            </a:r>
            <a:r>
              <a:rPr dirty="0" err="1"/>
              <a:t>Aït-Sahalia</a:t>
            </a:r>
            <a:r>
              <a:rPr dirty="0"/>
              <a:t>, Y. (2002). Maximum likelihood estimation of discretely sampled diffusions:</a:t>
            </a:r>
          </a:p>
          <a:p>
            <a:pPr>
              <a:defRPr sz="1200">
                <a:solidFill>
                  <a:srgbClr val="000000"/>
                </a:solidFill>
                <a:latin typeface="Calibri"/>
              </a:defRPr>
            </a:pPr>
            <a:r>
              <a:rPr dirty="0"/>
              <a:t>        a closed-form approximation approach. </a:t>
            </a:r>
            <a:r>
              <a:rPr dirty="0" err="1"/>
              <a:t>Econometrica</a:t>
            </a:r>
            <a:r>
              <a:rPr dirty="0"/>
              <a:t>, 70(1), 223–262.</a:t>
            </a:r>
          </a:p>
          <a:p>
            <a:pPr>
              <a:defRPr sz="1200">
                <a:solidFill>
                  <a:srgbClr val="000000"/>
                </a:solidFill>
                <a:latin typeface="Calibri"/>
              </a:defRPr>
            </a:pPr>
            <a:r>
              <a:rPr dirty="0"/>
              <a:t>  [Iac08] </a:t>
            </a:r>
            <a:r>
              <a:rPr dirty="0" err="1"/>
              <a:t>Iacus</a:t>
            </a:r>
            <a:r>
              <a:rPr dirty="0"/>
              <a:t>, S.M. (2008). Simulation and Inference for Stochastic Differential Equations.</a:t>
            </a:r>
          </a:p>
          <a:p>
            <a:pPr>
              <a:defRPr sz="1200">
                <a:solidFill>
                  <a:srgbClr val="000000"/>
                </a:solidFill>
                <a:latin typeface="Calibri"/>
              </a:defRPr>
            </a:pPr>
            <a:r>
              <a:rPr dirty="0"/>
              <a:t>         Springer Series in Statistics. Springer.</a:t>
            </a:r>
          </a:p>
          <a:p>
            <a:pPr>
              <a:defRPr sz="1200">
                <a:solidFill>
                  <a:srgbClr val="000000"/>
                </a:solidFill>
                <a:latin typeface="Calibri"/>
              </a:defRPr>
            </a:pPr>
            <a:r>
              <a:rPr dirty="0"/>
              <a:t>  [CT04] </a:t>
            </a:r>
            <a:r>
              <a:rPr dirty="0" err="1"/>
              <a:t>Cont</a:t>
            </a:r>
            <a:r>
              <a:rPr dirty="0"/>
              <a:t> &amp; </a:t>
            </a:r>
            <a:r>
              <a:rPr dirty="0" err="1"/>
              <a:t>Tankov</a:t>
            </a:r>
            <a:r>
              <a:rPr dirty="0"/>
              <a:t> (2004). Financial Modelling with Jump Processes.</a:t>
            </a:r>
          </a:p>
          <a:p>
            <a:pPr>
              <a:defRPr sz="1200">
                <a:solidFill>
                  <a:srgbClr val="000000"/>
                </a:solidFill>
                <a:latin typeface="Calibri"/>
              </a:defRPr>
            </a:pPr>
            <a:r>
              <a:rPr dirty="0"/>
              <a:t>  [Gl03] </a:t>
            </a:r>
            <a:r>
              <a:rPr dirty="0" err="1"/>
              <a:t>Glasserman</a:t>
            </a:r>
            <a:r>
              <a:rPr dirty="0"/>
              <a:t> (2003). MC Methods in Financial Engineering.</a:t>
            </a:r>
          </a:p>
          <a:p>
            <a:pPr>
              <a:defRPr sz="1200">
                <a:solidFill>
                  <a:srgbClr val="000000"/>
                </a:solidFill>
                <a:latin typeface="Calibri"/>
              </a:defRPr>
            </a:pPr>
            <a:r>
              <a:rPr dirty="0"/>
              <a:t>  [Ru94] Rubinstein (1994). J. Finance, 49(3), 771–818.</a:t>
            </a:r>
          </a:p>
          <a:p>
            <a:pPr>
              <a:defRPr sz="1200">
                <a:solidFill>
                  <a:srgbClr val="000000"/>
                </a:solidFill>
                <a:latin typeface="Calibri"/>
              </a:defRPr>
            </a:pPr>
            <a:endParaRPr dirty="0"/>
          </a:p>
          <a:p>
            <a:pPr>
              <a:defRPr sz="1200">
                <a:solidFill>
                  <a:srgbClr val="000000"/>
                </a:solidFill>
                <a:latin typeface="Calibri"/>
              </a:defRPr>
            </a:pPr>
            <a:r>
              <a:rPr dirty="0"/>
              <a:t>Supervisor's Research:</a:t>
            </a:r>
          </a:p>
          <a:p>
            <a:pPr>
              <a:defRPr sz="1200">
                <a:solidFill>
                  <a:srgbClr val="000000"/>
                </a:solidFill>
                <a:latin typeface="Calibri"/>
              </a:defRPr>
            </a:pPr>
            <a:r>
              <a:rPr dirty="0"/>
              <a:t>  [DKS16] </a:t>
            </a:r>
            <a:r>
              <a:rPr dirty="0" err="1"/>
              <a:t>Dareiotis</a:t>
            </a:r>
            <a:r>
              <a:rPr dirty="0"/>
              <a:t>, Kumar &amp; </a:t>
            </a:r>
            <a:r>
              <a:rPr dirty="0" err="1"/>
              <a:t>Sabanis</a:t>
            </a:r>
            <a:r>
              <a:rPr dirty="0"/>
              <a:t> (2016). SIAM J. </a:t>
            </a:r>
            <a:r>
              <a:rPr dirty="0" err="1"/>
              <a:t>Numer</a:t>
            </a:r>
            <a:r>
              <a:rPr dirty="0"/>
              <a:t>. Anal., 54(3).</a:t>
            </a:r>
          </a:p>
          <a:p>
            <a:pPr>
              <a:defRPr sz="1200">
                <a:solidFill>
                  <a:srgbClr val="000000"/>
                </a:solidFill>
                <a:latin typeface="Calibri"/>
              </a:defRPr>
            </a:pPr>
            <a:r>
              <a:rPr dirty="0"/>
              <a:t>  [KS17] Kumar &amp; </a:t>
            </a:r>
            <a:r>
              <a:rPr dirty="0" err="1"/>
              <a:t>Sabanis</a:t>
            </a:r>
            <a:r>
              <a:rPr dirty="0"/>
              <a:t> (2017). </a:t>
            </a:r>
            <a:r>
              <a:rPr dirty="0" err="1"/>
              <a:t>Electr</a:t>
            </a:r>
            <a:r>
              <a:rPr dirty="0"/>
              <a:t>. J. Probability, 22.</a:t>
            </a:r>
          </a:p>
          <a:p>
            <a:pPr>
              <a:defRPr sz="1200">
                <a:solidFill>
                  <a:srgbClr val="000000"/>
                </a:solidFill>
                <a:latin typeface="Calibri"/>
              </a:defRPr>
            </a:pPr>
            <a:r>
              <a:rPr dirty="0"/>
              <a:t>  [KK20] Kumar &amp; Kumar (2020). J. Comp. Appl. Math., 377.</a:t>
            </a:r>
          </a:p>
          <a:p>
            <a:pPr>
              <a:defRPr sz="1200">
                <a:solidFill>
                  <a:srgbClr val="000000"/>
                </a:solidFill>
                <a:latin typeface="Calibri"/>
              </a:defRPr>
            </a:pPr>
            <a:r>
              <a:rPr dirty="0"/>
              <a:t>  [KNRS20] Kumar, Neelima, Reisinger &amp; Stockinger (2020). arXiv:2006.00463.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8591771-0335-2FF0-A511-E35721D4DFDB}"/>
              </a:ext>
            </a:extLst>
          </p:cNvPr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14F44DF-7E69-504D-394D-2DCD349782F1}"/>
              </a:ext>
            </a:extLst>
          </p:cNvPr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13D558C-4066-65D4-0EED-ABC42214774A}"/>
              </a:ext>
            </a:extLst>
          </p:cNvPr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rPr dirty="0"/>
              <a:t>Thank You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4367B92-13ED-A1F9-F669-A9E5086CF8E3}"/>
              </a:ext>
            </a:extLst>
          </p:cNvPr>
          <p:cNvSpPr/>
          <p:nvPr/>
        </p:nvSpPr>
        <p:spPr>
          <a:xfrm>
            <a:off x="4572000" y="2926080"/>
            <a:ext cx="2743200" cy="36576"/>
          </a:xfrm>
          <a:prstGeom prst="rect">
            <a:avLst/>
          </a:prstGeom>
          <a:solidFill>
            <a:srgbClr val="C85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5BE8512-19D9-2EAB-105B-62397A6B0DA7}"/>
              </a:ext>
            </a:extLst>
          </p:cNvPr>
          <p:cNvSpPr txBox="1"/>
          <p:nvPr/>
        </p:nvSpPr>
        <p:spPr>
          <a:xfrm>
            <a:off x="1371600" y="3200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ACCEE"/>
                </a:solidFill>
                <a:latin typeface="Calibri"/>
              </a:defRPr>
            </a:pPr>
            <a:r>
              <a:t>Comparative Study of Stochastic Models for Option Pricing</a:t>
            </a:r>
            <a:br/>
            <a:r>
              <a:t>in the Indian Stock Market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5AE78D0-2680-7E0D-A34B-7B93B3DEB32B}"/>
              </a:ext>
            </a:extLst>
          </p:cNvPr>
          <p:cNvSpPr txBox="1"/>
          <p:nvPr/>
        </p:nvSpPr>
        <p:spPr>
          <a:xfrm>
            <a:off x="1371600" y="4114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Under the supervision of Prof. Chaman Kumar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1CDB8D3-9D71-990A-29AD-7B184B2565BA}"/>
              </a:ext>
            </a:extLst>
          </p:cNvPr>
          <p:cNvSpPr txBox="1"/>
          <p:nvPr/>
        </p:nvSpPr>
        <p:spPr>
          <a:xfrm>
            <a:off x="1371600" y="4754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BBDD"/>
                </a:solidFill>
                <a:latin typeface="Calibri"/>
              </a:defRPr>
            </a:pPr>
            <a:r>
              <a:t>Department of Mathematics, IIT Roorkee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6FF4E02-07D8-D5E1-8899-9FEF949D3188}"/>
              </a:ext>
            </a:extLst>
          </p:cNvPr>
          <p:cNvSpPr txBox="1"/>
          <p:nvPr/>
        </p:nvSpPr>
        <p:spPr>
          <a:xfrm>
            <a:off x="1371600" y="5303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D4A02F"/>
                </a:solidFill>
                <a:latin typeface="Calibri"/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2361</Words>
  <Application>Microsoft Office PowerPoint</Application>
  <PresentationFormat>Widescreen</PresentationFormat>
  <Paragraphs>206</Paragraphs>
  <Slides>31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MOHIT AGARWAL</cp:lastModifiedBy>
  <cp:revision>3</cp:revision>
  <dcterms:created xsi:type="dcterms:W3CDTF">2013-01-27T09:14:16Z</dcterms:created>
  <dcterms:modified xsi:type="dcterms:W3CDTF">2026-03-19T04:21:07Z</dcterms:modified>
  <cp:category/>
</cp:coreProperties>
</file>